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التحية والتقديم: فريق من أربعة، مشروع ختامي متكامل — استيعاب لحظي، بحيرة بيانات، مساعد RAG، تنسيق Airflow، وجودة تُوقف الأنبوب فعلاً.
شعار سدايا الرسمي مستخدم للإسناد attribution: هذا مشروع ختامي لبرنامج تدريبي من أكاديمية سدايا.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اخترنا بيانات UCI الحقيقية عمداً: عيوبها الحقيقية (فقدان، سوالب، تكرارات) هي التي تختبر بوابات الجودة ومسارات الفشل بصدق.
Citation: Chen, D. (2015). Online Retail. UCI ML Repository. doi:10.24432/C5BW33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مساران للفشل مدمجان في التصميم: العقد يرفض الرسالة الواحدة إلى DLQ، وبوابة GE ترفض الدفعة كمجموعة وتوقف كل ما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لماذا DLQ؟ الإسقاط الصامت فقدان بلا أثر، وإيقاف الأنبوب لرسالة واحدة يعطل الصالح خلفها. DLQ يحفظ الرسالة مع سببها ويُبقي الأنبوب جارياً.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لماذا MERGE لا append/overwrite؟ المصدر بثّ قد يعيد الرسالة: append يكرر، وoverwrite يمسح التاريخ. MERGE على المفتاح يجعل إعادة التشغيل تعطي نفس النتيجة.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لماذا هجين؟ المتجهات تفهم المعنى لكنها تضيع أكواد المنتجات مثل 85123A، وBM25 يلتقطها فوراً. RRF يدمج بالرتب لأن الدرجتين على مقياسين مختلفين. الـ cross-encoder يقرأ السؤال والوثيقة معاً — دقيق لكنه بطيء، فنستعمله على أفضل المرشحين فقط.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لم نكتب منطق الإيقاف بأنفسنا: قاعدة التشغيل الافتراضية all_success تعني أن فشل أي مهمة يجمّد كل ما بعدها تلقائياً — هذا سبب استخدام منسّق orchestrator أصلاً.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أليس Pydantic + GE تكراراً؟ لا: العقد يفحص الرسالة الواحدة لحظة الوصول، وGE يفحص الدفعة كمجموعة (تفرد وتوزيعات) — كالمطار: جواز كل مسافر وحده، وقائمة الركاب كاملة قبل الإقلاع.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السؤال شبه المؤكد: لماذا فشلت الثانية لا الأولى؟ لأن التكرار خاصية على مستوى المجموعة لا يراها فحص السجل الواحد — التقطه توقّع التفرد في GE. هذا بالضبط سبب حاجتنا لطبقتي فحص.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TDD ليس شكلياً: تغيير الرؤوس السياقية في التقطيع كسر اختبارين قبل أن يصل الكسر للفهرس. وGrid يوضح التاريخ الصادق: فشل حقيقي مبكر ثم نجاحان ثم فشل متعمد.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افتح الباب للأسئلة. كل بند من البنود الخمسة له مجلد أدلة خاص في evidence/ يمكن فتحه مباشرة عند أي سؤال.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7347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65760"/>
            <a:ext cx="2377440" cy="969264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/>
        </p:spPr>
      </p:sp>
      <p:pic>
        <p:nvPicPr>
          <p:cNvPr id="3" name="Image 0" descr="C:/Users/abdul/AppData/Local/Temp/claude/C--Users-abdul-OneDrive-Islamic-Content-Services-Associations-In-Languages-SDAIA-Modern-Data-Engineering/b95579aa-71c0-4bf0-9522-73ae4aba6a0a/scratchpad/sdai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84632"/>
            <a:ext cx="21031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960120"/>
            <a:ext cx="107286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منصة بيانات لحظية بمساعد ذكي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731520" y="1938528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3C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E-Commerce Data Platform with RAG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9067648" y="3246120"/>
            <a:ext cx="2670048" cy="1024128"/>
          </a:xfrm>
          <a:prstGeom prst="roundRect">
            <a:avLst>
              <a:gd name="adj" fmla="val 8929"/>
            </a:avLst>
          </a:prstGeom>
          <a:solidFill>
            <a:srgbClr val="333F82"/>
          </a:solidFill>
          <a:ln w="9525">
            <a:solidFill>
              <a:srgbClr val="4A55A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0800" y="3337560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عبدالعزيز بن خالد مليا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9140800" y="378561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9C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Abdulaziz Mulia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96432" y="3246120"/>
            <a:ext cx="2670048" cy="1024128"/>
          </a:xfrm>
          <a:prstGeom prst="roundRect">
            <a:avLst>
              <a:gd name="adj" fmla="val 8929"/>
            </a:avLst>
          </a:prstGeom>
          <a:solidFill>
            <a:srgbClr val="333F82"/>
          </a:solidFill>
          <a:ln w="9525">
            <a:solidFill>
              <a:srgbClr val="4A55A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69584" y="3337560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سيف بن نايف أبوخميس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269584" y="378561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9C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Saif Abukhamis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25216" y="3246120"/>
            <a:ext cx="2670048" cy="1024128"/>
          </a:xfrm>
          <a:prstGeom prst="roundRect">
            <a:avLst>
              <a:gd name="adj" fmla="val 8929"/>
            </a:avLst>
          </a:prstGeom>
          <a:solidFill>
            <a:srgbClr val="333F82"/>
          </a:solidFill>
          <a:ln w="9525">
            <a:solidFill>
              <a:srgbClr val="4A55A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398368" y="3337560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فراس بن محمد الحربي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3398368" y="378561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9C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Feras Al-Harbi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4000" y="3246120"/>
            <a:ext cx="2670048" cy="1024128"/>
          </a:xfrm>
          <a:prstGeom prst="roundRect">
            <a:avLst>
              <a:gd name="adj" fmla="val 8929"/>
            </a:avLst>
          </a:prstGeom>
          <a:solidFill>
            <a:srgbClr val="333F82"/>
          </a:solidFill>
          <a:ln w="9525">
            <a:solidFill>
              <a:srgbClr val="4A55A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7152" y="3337560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فيصل بن عبدالله العبدالجبار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527152" y="378561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9C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Faisal Al-Abdul-Jabbar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31520" y="4892040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أكاديمية سدايا ‏SDAIA Academy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731520" y="5321808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CBD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المدرب ‏Mohammed Albeladi‏ —‏ محمد البلادي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731520" y="5733288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9C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Data Engineering for AI Systems   ·   August 2–6, 2026</a:t>
            </a:r>
            <a:endParaRPr lang="en-US" sz="1400" dirty="0"/>
          </a:p>
        </p:txBody>
      </p:sp>
      <p:sp>
        <p:nvSpPr>
          <p:cNvPr id="21" name="Rounded Rectangle 20"/>
          <p:cNvSpPr/>
          <p:nvPr/>
        </p:nvSpPr>
        <p:spPr>
          <a:xfrm>
            <a:off x="10545775" y="5486400"/>
            <a:ext cx="914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epo_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14355" y="5554980"/>
            <a:ext cx="777240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9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القصة في سطر: بيانات حقيقية بعيوب حقيقية</a:t>
            </a:r>
            <a:endParaRPr lang="ar-SA" sz="2900" dirty="0"/>
          </a:p>
        </p:txBody>
      </p:sp>
      <p:sp>
        <p:nvSpPr>
          <p:cNvPr id="3" name="Shape 1"/>
          <p:cNvSpPr/>
          <p:nvPr/>
        </p:nvSpPr>
        <p:spPr>
          <a:xfrm>
            <a:off x="9021928" y="1554480"/>
            <a:ext cx="2651760" cy="1965960"/>
          </a:xfrm>
          <a:prstGeom prst="roundRect">
            <a:avLst>
              <a:gd name="adj" fmla="val 4186"/>
            </a:avLst>
          </a:prstGeom>
          <a:solidFill>
            <a:srgbClr val="F2F3FA"/>
          </a:solidFill>
          <a:ln w="9525">
            <a:solidFill>
              <a:srgbClr val="D6DAE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21928" y="1682496"/>
            <a:ext cx="2651760" cy="1022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541,909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31656" y="2694737"/>
            <a:ext cx="2432304" cy="7470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5A6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معاملة حقيقية من ‏UCI Online Retail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187288" y="1554480"/>
            <a:ext cx="2651760" cy="1965960"/>
          </a:xfrm>
          <a:prstGeom prst="roundRect">
            <a:avLst>
              <a:gd name="adj" fmla="val 4186"/>
            </a:avLst>
          </a:prstGeom>
          <a:solidFill>
            <a:srgbClr val="F2F3FA"/>
          </a:solidFill>
          <a:ln w="9525">
            <a:solidFill>
              <a:srgbClr val="D6DA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87288" y="1682496"/>
            <a:ext cx="2651760" cy="1022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297016" y="2694737"/>
            <a:ext cx="2432304" cy="7470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5A6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قيمة ‏CustomerID‏ مفقودة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352648" y="1554480"/>
            <a:ext cx="2651760" cy="1965960"/>
          </a:xfrm>
          <a:prstGeom prst="roundRect">
            <a:avLst>
              <a:gd name="adj" fmla="val 4186"/>
            </a:avLst>
          </a:prstGeom>
          <a:solidFill>
            <a:srgbClr val="F2F3FA"/>
          </a:solidFill>
          <a:ln w="9525">
            <a:solidFill>
              <a:srgbClr val="D6DA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52648" y="1682496"/>
            <a:ext cx="2651760" cy="1022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689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5,268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462376" y="2694737"/>
            <a:ext cx="2432304" cy="7470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5A6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صفاً مكرراً ‏duplicates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18008" y="1554480"/>
            <a:ext cx="2651760" cy="1965960"/>
          </a:xfrm>
          <a:prstGeom prst="roundRect">
            <a:avLst>
              <a:gd name="adj" fmla="val 4186"/>
            </a:avLst>
          </a:prstGeom>
          <a:solidFill>
            <a:srgbClr val="F2F3FA"/>
          </a:solidFill>
          <a:ln w="9525">
            <a:solidFill>
              <a:srgbClr val="D6DA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8008" y="1682496"/>
            <a:ext cx="2651760" cy="1022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سالبة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27736" y="2694737"/>
            <a:ext cx="2432304" cy="7470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5A6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كميات سالبة، إلغاءات حقيقية ‏cancellations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894680" y="3794760"/>
            <a:ext cx="402336" cy="548640"/>
          </a:xfrm>
          <a:prstGeom prst="downArrow">
            <a:avLst/>
          </a:prstGeom>
          <a:solidFill>
            <a:srgbClr val="33CC99"/>
          </a:solidFill>
          <a:ln/>
        </p:spPr>
      </p:sp>
      <p:sp>
        <p:nvSpPr>
          <p:cNvPr id="16" name="Shape 14"/>
          <p:cNvSpPr/>
          <p:nvPr/>
        </p:nvSpPr>
        <p:spPr>
          <a:xfrm>
            <a:off x="1554480" y="4572000"/>
            <a:ext cx="9082735" cy="1051560"/>
          </a:xfrm>
          <a:prstGeom prst="roundRect">
            <a:avLst>
              <a:gd name="adj" fmla="val 8696"/>
            </a:avLst>
          </a:prstGeom>
          <a:solidFill>
            <a:srgbClr val="273470"/>
          </a:solidFill>
          <a:ln/>
        </p:spPr>
      </p:sp>
      <p:sp>
        <p:nvSpPr>
          <p:cNvPr id="17" name="Text 15"/>
          <p:cNvSpPr/>
          <p:nvPr/>
        </p:nvSpPr>
        <p:spPr>
          <a:xfrm>
            <a:off x="1783080" y="4572000"/>
            <a:ext cx="8625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أنبوب ‏production-style‏ كامل يعالج هذه العيوب، لا بيانات مصطنعة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9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المعمارية: من الرسالة إلى الإجابة</a:t>
            </a:r>
            <a:endParaRPr lang="ar-SA" sz="2900" dirty="0"/>
          </a:p>
        </p:txBody>
      </p:sp>
      <p:sp>
        <p:nvSpPr>
          <p:cNvPr id="3" name="Shape 1"/>
          <p:cNvSpPr/>
          <p:nvPr/>
        </p:nvSpPr>
        <p:spPr>
          <a:xfrm>
            <a:off x="457200" y="141732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0E8A8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Kafka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topic: retail_transactions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807208" y="141732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273470"/>
          </a:solidFill>
          <a:ln/>
        </p:spPr>
      </p:sp>
      <p:sp>
        <p:nvSpPr>
          <p:cNvPr id="6" name="Text 4"/>
          <p:cNvSpPr/>
          <p:nvPr/>
        </p:nvSpPr>
        <p:spPr>
          <a:xfrm>
            <a:off x="2852928" y="141732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عقد ‏Pydantic contract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فحص كل رسالة عند الحدود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157216" y="141732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0E8A8A"/>
          </a:solidFill>
          <a:ln/>
        </p:spPr>
      </p:sp>
      <p:sp>
        <p:nvSpPr>
          <p:cNvPr id="8" name="Text 6"/>
          <p:cNvSpPr/>
          <p:nvPr/>
        </p:nvSpPr>
        <p:spPr>
          <a:xfrm>
            <a:off x="5202936" y="141732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 — Delta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خام وتدقيق ‏audit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507224" y="141732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33CC99"/>
          </a:solidFill>
          <a:ln/>
        </p:spPr>
      </p:sp>
      <p:sp>
        <p:nvSpPr>
          <p:cNvPr id="10" name="Text 8"/>
          <p:cNvSpPr/>
          <p:nvPr/>
        </p:nvSpPr>
        <p:spPr>
          <a:xfrm>
            <a:off x="7552944" y="141732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بوابة ‏GE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فحوص العقد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857232" y="141732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0E8A8A"/>
          </a:solidFill>
          <a:ln/>
        </p:spPr>
      </p:sp>
      <p:sp>
        <p:nvSpPr>
          <p:cNvPr id="12" name="Text 10"/>
          <p:cNvSpPr/>
          <p:nvPr/>
        </p:nvSpPr>
        <p:spPr>
          <a:xfrm>
            <a:off x="9902952" y="141732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 — Delta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MERGE‏ على مفتاح العمل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432304" y="1723644"/>
            <a:ext cx="365760" cy="256032"/>
          </a:xfrm>
          <a:prstGeom prst="rightArrow">
            <a:avLst/>
          </a:prstGeom>
          <a:solidFill>
            <a:srgbClr val="5A6285"/>
          </a:solidFill>
          <a:ln/>
        </p:spPr>
      </p:sp>
      <p:sp>
        <p:nvSpPr>
          <p:cNvPr id="14" name="Shape 12"/>
          <p:cNvSpPr/>
          <p:nvPr/>
        </p:nvSpPr>
        <p:spPr>
          <a:xfrm>
            <a:off x="4782312" y="1723644"/>
            <a:ext cx="365760" cy="256032"/>
          </a:xfrm>
          <a:prstGeom prst="rightArrow">
            <a:avLst/>
          </a:prstGeom>
          <a:solidFill>
            <a:srgbClr val="5A6285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0" y="1723644"/>
            <a:ext cx="365760" cy="256032"/>
          </a:xfrm>
          <a:prstGeom prst="rightArrow">
            <a:avLst/>
          </a:prstGeom>
          <a:solidFill>
            <a:srgbClr val="5A6285"/>
          </a:solidFill>
          <a:ln/>
        </p:spPr>
      </p:sp>
      <p:sp>
        <p:nvSpPr>
          <p:cNvPr id="16" name="Shape 14"/>
          <p:cNvSpPr/>
          <p:nvPr/>
        </p:nvSpPr>
        <p:spPr>
          <a:xfrm>
            <a:off x="9482328" y="1723644"/>
            <a:ext cx="365760" cy="256032"/>
          </a:xfrm>
          <a:prstGeom prst="rightArrow">
            <a:avLst/>
          </a:prstGeom>
          <a:solidFill>
            <a:srgbClr val="5A6285"/>
          </a:solidFill>
          <a:ln/>
        </p:spPr>
      </p:sp>
      <p:sp>
        <p:nvSpPr>
          <p:cNvPr id="17" name="Shape 15"/>
          <p:cNvSpPr/>
          <p:nvPr/>
        </p:nvSpPr>
        <p:spPr>
          <a:xfrm>
            <a:off x="3680460" y="2359152"/>
            <a:ext cx="219456" cy="384048"/>
          </a:xfrm>
          <a:prstGeom prst="downArrow">
            <a:avLst/>
          </a:prstGeom>
          <a:solidFill>
            <a:srgbClr val="C0392B"/>
          </a:solidFill>
          <a:ln/>
        </p:spPr>
      </p:sp>
      <p:sp>
        <p:nvSpPr>
          <p:cNvPr id="18" name="Shape 16"/>
          <p:cNvSpPr/>
          <p:nvPr/>
        </p:nvSpPr>
        <p:spPr>
          <a:xfrm>
            <a:off x="2670048" y="2788920"/>
            <a:ext cx="2240280" cy="685800"/>
          </a:xfrm>
          <a:prstGeom prst="roundRect">
            <a:avLst>
              <a:gd name="adj" fmla="val 9333"/>
            </a:avLst>
          </a:prstGeom>
          <a:solidFill>
            <a:srgbClr val="C0392B"/>
          </a:solidFill>
          <a:ln/>
        </p:spPr>
      </p:sp>
      <p:sp>
        <p:nvSpPr>
          <p:cNvPr id="19" name="Text 17"/>
          <p:cNvSpPr/>
          <p:nvPr/>
        </p:nvSpPr>
        <p:spPr>
          <a:xfrm>
            <a:off x="2715768" y="27889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dead-letter topic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الرسالة المرفوضة وسبب الرفض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0730484" y="2359152"/>
            <a:ext cx="219456" cy="1225296"/>
          </a:xfrm>
          <a:prstGeom prst="downArrow">
            <a:avLst/>
          </a:prstGeom>
          <a:solidFill>
            <a:srgbClr val="5A6285"/>
          </a:solidFill>
          <a:ln/>
        </p:spPr>
      </p:sp>
      <p:sp>
        <p:nvSpPr>
          <p:cNvPr id="21" name="Shape 19"/>
          <p:cNvSpPr/>
          <p:nvPr/>
        </p:nvSpPr>
        <p:spPr>
          <a:xfrm>
            <a:off x="9448495" y="3657600"/>
            <a:ext cx="2286000" cy="868680"/>
          </a:xfrm>
          <a:prstGeom prst="roundRect">
            <a:avLst>
              <a:gd name="adj" fmla="val 7368"/>
            </a:avLst>
          </a:prstGeom>
          <a:solidFill>
            <a:srgbClr val="33CC99"/>
          </a:solidFill>
          <a:ln/>
        </p:spPr>
      </p:sp>
      <p:sp>
        <p:nvSpPr>
          <p:cNvPr id="22" name="Text 20"/>
          <p:cNvSpPr/>
          <p:nvPr/>
        </p:nvSpPr>
        <p:spPr>
          <a:xfrm>
            <a:off x="9494215" y="36576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بوابة ‏GE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التفرد ‏uniqueness‏ وتوقف الأنبوب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751015" y="3657600"/>
            <a:ext cx="2286000" cy="868680"/>
          </a:xfrm>
          <a:prstGeom prst="roundRect">
            <a:avLst>
              <a:gd name="adj" fmla="val 7368"/>
            </a:avLst>
          </a:prstGeom>
          <a:solidFill>
            <a:srgbClr val="0E8A8A"/>
          </a:solidFill>
          <a:ln/>
        </p:spPr>
      </p:sp>
      <p:sp>
        <p:nvSpPr>
          <p:cNvPr id="24" name="Text 22"/>
          <p:cNvSpPr/>
          <p:nvPr/>
        </p:nvSpPr>
        <p:spPr>
          <a:xfrm>
            <a:off x="6796735" y="36576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— Delta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تجميع مرتب بالإيراد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053535" y="3657600"/>
            <a:ext cx="2286000" cy="868680"/>
          </a:xfrm>
          <a:prstGeom prst="roundRect">
            <a:avLst>
              <a:gd name="adj" fmla="val 7368"/>
            </a:avLst>
          </a:prstGeom>
          <a:solidFill>
            <a:srgbClr val="273470"/>
          </a:solidFill>
          <a:ln/>
        </p:spPr>
      </p:sp>
      <p:sp>
        <p:nvSpPr>
          <p:cNvPr id="26" name="Text 24"/>
          <p:cNvSpPr/>
          <p:nvPr/>
        </p:nvSpPr>
        <p:spPr>
          <a:xfrm>
            <a:off x="4099255" y="36576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فهرسة ‏RAG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ChromaDB + BM25 → RRF → rerank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356055" y="3657600"/>
            <a:ext cx="2286000" cy="868680"/>
          </a:xfrm>
          <a:prstGeom prst="roundRect">
            <a:avLst>
              <a:gd name="adj" fmla="val 7368"/>
            </a:avLst>
          </a:prstGeom>
          <a:solidFill>
            <a:srgbClr val="33CC99"/>
          </a:solidFill>
          <a:ln/>
        </p:spPr>
      </p:sp>
      <p:sp>
        <p:nvSpPr>
          <p:cNvPr id="28" name="Text 26"/>
          <p:cNvSpPr/>
          <p:nvPr/>
        </p:nvSpPr>
        <p:spPr>
          <a:xfrm>
            <a:off x="1401775" y="36576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إجابة باستشهادات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[Source N]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064447" y="3963924"/>
            <a:ext cx="365760" cy="256032"/>
          </a:xfrm>
          <a:prstGeom prst="leftArrow">
            <a:avLst/>
          </a:prstGeom>
          <a:solidFill>
            <a:srgbClr val="5A6285"/>
          </a:solidFill>
          <a:ln/>
        </p:spPr>
      </p:sp>
      <p:sp>
        <p:nvSpPr>
          <p:cNvPr id="30" name="Shape 28"/>
          <p:cNvSpPr/>
          <p:nvPr/>
        </p:nvSpPr>
        <p:spPr>
          <a:xfrm>
            <a:off x="6366967" y="3963924"/>
            <a:ext cx="365760" cy="256032"/>
          </a:xfrm>
          <a:prstGeom prst="leftArrow">
            <a:avLst/>
          </a:prstGeom>
          <a:solidFill>
            <a:srgbClr val="5A6285"/>
          </a:solidFill>
          <a:ln/>
        </p:spPr>
      </p:sp>
      <p:sp>
        <p:nvSpPr>
          <p:cNvPr id="31" name="Shape 29"/>
          <p:cNvSpPr/>
          <p:nvPr/>
        </p:nvSpPr>
        <p:spPr>
          <a:xfrm>
            <a:off x="3669487" y="3963924"/>
            <a:ext cx="365760" cy="256032"/>
          </a:xfrm>
          <a:prstGeom prst="leftArrow">
            <a:avLst/>
          </a:prstGeom>
          <a:solidFill>
            <a:srgbClr val="5A6285"/>
          </a:solidFill>
          <a:ln/>
        </p:spPr>
      </p:sp>
      <p:sp>
        <p:nvSpPr>
          <p:cNvPr id="32" name="Shape 30"/>
          <p:cNvSpPr/>
          <p:nvPr/>
        </p:nvSpPr>
        <p:spPr>
          <a:xfrm>
            <a:off x="822960" y="5166360"/>
            <a:ext cx="10545775" cy="914400"/>
          </a:xfrm>
          <a:prstGeom prst="roundRect">
            <a:avLst>
              <a:gd name="adj" fmla="val 10000"/>
            </a:avLst>
          </a:prstGeom>
          <a:solidFill>
            <a:srgbClr val="F2F3FA"/>
          </a:solidFill>
          <a:ln w="9525">
            <a:solidFill>
              <a:srgbClr val="D6DAE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51560" y="516636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0E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Airflow DAG‏</a:t>
            </a:r>
            <a:pPr rtl="1" algn="ctr" indent="0" marL="0">
              <a:buNone/>
            </a:pPr>
            <a:r>
              <a:rPr lang="en-US" sz="16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ينسّق عشر مهام بالترتيب   ·   </a:t>
            </a:r>
            <a:pPr rtl="1" algn="ctr" indent="0" marL="0">
              <a:buNone/>
            </a:pPr>
            <a:r>
              <a:rPr lang="en-US" sz="1600" b="1" dirty="0">
                <a:solidFill>
                  <a:srgbClr val="0E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OpenLineage‏</a:t>
            </a:r>
            <a:pPr rtl="1" algn="ctr" indent="0" marL="0">
              <a:buNone/>
            </a:pPr>
            <a:r>
              <a:rPr lang="en-US" sz="16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يسجّل كل مرحلة بمعرّف تشغيل موحد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76127" y="384048"/>
            <a:ext cx="566928" cy="566928"/>
          </a:xfrm>
          <a:prstGeom prst="ellipse">
            <a:avLst/>
          </a:prstGeom>
          <a:solidFill>
            <a:srgbClr val="6258A6"/>
          </a:solidFill>
          <a:ln/>
        </p:spPr>
      </p:sp>
      <p:sp>
        <p:nvSpPr>
          <p:cNvPr id="3" name="Text 1"/>
          <p:cNvSpPr/>
          <p:nvPr/>
        </p:nvSpPr>
        <p:spPr>
          <a:xfrm>
            <a:off x="11076127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9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الاستيعاب ‏ingestion‏ عبر ‏Kafka</a:t>
            </a:r>
            <a:endParaRPr lang="ar-SA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429768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33CC99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2976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20‏ نقطة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852160" y="1600200"/>
            <a:ext cx="5760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177800" indent="-1778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producer‏ وconsumer‏ حقيقيان على ‏Kafka KRaft</a:t>
            </a:r>
            <a:endParaRPr lang="en-US" sz="1700" dirty="0"/>
          </a:p>
          <a:p>
            <a:pPr rtl="1" algn="r" marL="177800" indent="-1778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عقد بيانات ‏Pydantic‏ يفحص كل رسالة عند الحدود</a:t>
            </a:r>
            <a:endParaRPr lang="en-US" sz="1700" dirty="0"/>
          </a:p>
          <a:p>
            <a:pPr rtl="1" algn="r" marL="177800" indent="-1778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المخالف يذهب إلى ‏dead-letter topic‏ فوراً</a:t>
            </a:r>
            <a:endParaRPr lang="en-US" sz="1700" dirty="0"/>
          </a:p>
          <a:p>
            <a:pPr rtl="1" algn="r" marL="177800" indent="-1778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سبب الرفض ‏rejection reason‏ يُسجَّل مع كل رسالة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017520" y="1600200"/>
            <a:ext cx="2377440" cy="2514600"/>
          </a:xfrm>
          <a:prstGeom prst="roundRect">
            <a:avLst>
              <a:gd name="adj" fmla="val 3462"/>
            </a:avLst>
          </a:prstGeom>
          <a:solidFill>
            <a:srgbClr val="F2F3FA"/>
          </a:solidFill>
          <a:ln w="9525">
            <a:solidFill>
              <a:srgbClr val="D6DA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17520" y="1728216"/>
            <a:ext cx="237744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127248" y="3058668"/>
            <a:ext cx="2157984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5A6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رسالة صالحة قُبلت ووصلت ‏landing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1600200"/>
            <a:ext cx="2377440" cy="2514600"/>
          </a:xfrm>
          <a:prstGeom prst="roundRect">
            <a:avLst>
              <a:gd name="adj" fmla="val 3462"/>
            </a:avLst>
          </a:prstGeom>
          <a:solidFill>
            <a:srgbClr val="F2F3FA"/>
          </a:solidFill>
          <a:ln w="9525">
            <a:solidFill>
              <a:srgbClr val="D6DA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728216"/>
            <a:ext cx="237744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58368" y="3058668"/>
            <a:ext cx="2157984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5A6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رسائل مشوّهة رُفضت، لكل واحدة سبب موثق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48640" y="43434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5A6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إسقاط صامت —‏ الأنبوب يستمر والمرفوض محفوظ بدليله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54864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6F7F1"/>
          </a:solidFill>
          <a:ln w="12700">
            <a:solidFill>
              <a:srgbClr val="33CC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486400"/>
            <a:ext cx="10637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E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الدليل ‏evidence/ingestion:‏  </a:t>
            </a:r>
            <a:pPr rtl="1" algn="r" indent="0" marL="0">
              <a:buNone/>
            </a:pPr>
            <a:r>
              <a:rPr lang="en-US" sz="16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سجل الاستهلاك الكامل ومحتوى الـ ‏DLQ‏ بثلاثة أسباب رفض موثقة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76127" y="384048"/>
            <a:ext cx="566928" cy="566928"/>
          </a:xfrm>
          <a:prstGeom prst="ellipse">
            <a:avLst/>
          </a:prstGeom>
          <a:solidFill>
            <a:srgbClr val="6258A6"/>
          </a:solidFill>
          <a:ln/>
        </p:spPr>
      </p:sp>
      <p:sp>
        <p:nvSpPr>
          <p:cNvPr id="3" name="Text 1"/>
          <p:cNvSpPr/>
          <p:nvPr/>
        </p:nvSpPr>
        <p:spPr>
          <a:xfrm>
            <a:off x="11076127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9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بحيرة ‏Delta Lakehouse‏ بثلاث طبقات</a:t>
            </a:r>
            <a:endParaRPr lang="ar-SA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429768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33CC99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2976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25‏ نقطة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852160" y="1600200"/>
            <a:ext cx="5760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177800" indent="-1778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Bronze‏ خام للتدقيق · Silver‏ نظيفة · Gold‏ تجميع</a:t>
            </a:r>
            <a:endParaRPr lang="en-US" sz="1700" dirty="0"/>
          </a:p>
          <a:p>
            <a:pPr rtl="1" algn="r" marL="177800" indent="-1778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MERGE‏ حقيقي على مفتاح العمل ‏InvoiceNo + StockCode</a:t>
            </a:r>
            <a:endParaRPr lang="en-US" sz="1700" dirty="0"/>
          </a:p>
          <a:p>
            <a:pPr rtl="1" algn="r" marL="177800" indent="-1778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إعادة إرسال نفس مفاتيح العمل آمنة — ‏MERGE‏ يحدّثها ولا يكرّرها</a:t>
            </a:r>
            <a:endParaRPr lang="en-US" sz="1700" dirty="0"/>
          </a:p>
          <a:p>
            <a:pPr rtl="1" algn="r" marL="177800" indent="-1778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فرض المخطط ‏schema enforcement‏ يرفض عموداً دخيلاً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017520" y="1600200"/>
            <a:ext cx="2377440" cy="2514600"/>
          </a:xfrm>
          <a:prstGeom prst="roundRect">
            <a:avLst>
              <a:gd name="adj" fmla="val 3462"/>
            </a:avLst>
          </a:prstGeom>
          <a:solidFill>
            <a:srgbClr val="F2F3FA"/>
          </a:solidFill>
          <a:ln w="9525">
            <a:solidFill>
              <a:srgbClr val="D6DA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17520" y="1728216"/>
            <a:ext cx="237744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1,908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127248" y="3058668"/>
            <a:ext cx="2157984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5A6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صفاً حُدِّث ‏update‏ في الدفعة الثانية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1600200"/>
            <a:ext cx="2377440" cy="2514600"/>
          </a:xfrm>
          <a:prstGeom prst="roundRect">
            <a:avLst>
              <a:gd name="adj" fmla="val 3462"/>
            </a:avLst>
          </a:prstGeom>
          <a:solidFill>
            <a:srgbClr val="F2F3FA"/>
          </a:solidFill>
          <a:ln w="9525">
            <a:solidFill>
              <a:srgbClr val="D6DA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728216"/>
            <a:ext cx="237744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3C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1,947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58368" y="3058668"/>
            <a:ext cx="2157984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5A6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صفاً أُدرج ‏insert‏ في نفس العملية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48640" y="43434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5A6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كلاهما في عملية ‏MERGE‏ ذرّية ‏atomic‏ واحدة، وسجل المعاملات شاهد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54864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6F7F1"/>
          </a:solidFill>
          <a:ln w="12700">
            <a:solidFill>
              <a:srgbClr val="33CC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486400"/>
            <a:ext cx="10637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E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الدليل ‏evidence/delta:‏  </a:t>
            </a:r>
            <a:pPr rtl="1" algn="r" indent="0" marL="0">
              <a:buNone/>
            </a:pPr>
            <a:r>
              <a:rPr lang="en-US" sz="16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مقاييس ‏MERGE‏ من تاريخ الجدول، ورسالة رفض الكتابة بعمود غير معلَن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76127" y="566928"/>
            <a:ext cx="566928" cy="566928"/>
          </a:xfrm>
          <a:prstGeom prst="ellipse">
            <a:avLst/>
          </a:prstGeom>
          <a:solidFill>
            <a:srgbClr val="6258A6"/>
          </a:solidFill>
          <a:ln/>
        </p:spPr>
      </p:sp>
      <p:sp>
        <p:nvSpPr>
          <p:cNvPr id="3" name="Text 1"/>
          <p:cNvSpPr/>
          <p:nvPr/>
        </p:nvSpPr>
        <p:spPr>
          <a:xfrm>
            <a:off x="11076127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9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خط أنابيب ‏RAG‏ ببحث هجين واستشهادات</a:t>
            </a:r>
            <a:endParaRPr lang="ar-SA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612648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33CC99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1264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25‏ نقطة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54584" y="1572768"/>
            <a:ext cx="2084832" cy="914400"/>
          </a:xfrm>
          <a:prstGeom prst="roundRect">
            <a:avLst>
              <a:gd name="adj" fmla="val 7000"/>
            </a:avLst>
          </a:prstGeom>
          <a:solidFill>
            <a:srgbClr val="0E8A8A"/>
          </a:solidFill>
          <a:ln/>
        </p:spPr>
      </p:sp>
      <p:sp>
        <p:nvSpPr>
          <p:cNvPr id="8" name="Text 6"/>
          <p:cNvSpPr/>
          <p:nvPr/>
        </p:nvSpPr>
        <p:spPr>
          <a:xfrm>
            <a:off x="600304" y="1572768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تقطيع ‏chunking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رؤوس سياقية وتداخل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84552" y="1901952"/>
            <a:ext cx="365760" cy="256032"/>
          </a:xfrm>
          <a:prstGeom prst="rightArrow">
            <a:avLst/>
          </a:prstGeom>
          <a:solidFill>
            <a:srgbClr val="5A6285"/>
          </a:solidFill>
          <a:ln/>
        </p:spPr>
      </p:sp>
      <p:sp>
        <p:nvSpPr>
          <p:cNvPr id="10" name="Shape 8"/>
          <p:cNvSpPr/>
          <p:nvPr/>
        </p:nvSpPr>
        <p:spPr>
          <a:xfrm>
            <a:off x="2804008" y="1572768"/>
            <a:ext cx="2084832" cy="914400"/>
          </a:xfrm>
          <a:prstGeom prst="roundRect">
            <a:avLst>
              <a:gd name="adj" fmla="val 7000"/>
            </a:avLst>
          </a:prstGeom>
          <a:solidFill>
            <a:srgbClr val="6258A6"/>
          </a:solidFill>
          <a:ln/>
        </p:spPr>
      </p:sp>
      <p:sp>
        <p:nvSpPr>
          <p:cNvPr id="11" name="Text 9"/>
          <p:cNvSpPr/>
          <p:nvPr/>
        </p:nvSpPr>
        <p:spPr>
          <a:xfrm>
            <a:off x="2849728" y="1572768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ChromaDB + BM25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دلالي وكلمات مفتاحية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833976" y="1901952"/>
            <a:ext cx="365760" cy="256032"/>
          </a:xfrm>
          <a:prstGeom prst="rightArrow">
            <a:avLst/>
          </a:prstGeom>
          <a:solidFill>
            <a:srgbClr val="5A6285"/>
          </a:solidFill>
          <a:ln/>
        </p:spPr>
      </p:sp>
      <p:sp>
        <p:nvSpPr>
          <p:cNvPr id="13" name="Shape 11"/>
          <p:cNvSpPr/>
          <p:nvPr/>
        </p:nvSpPr>
        <p:spPr>
          <a:xfrm>
            <a:off x="5053432" y="1572768"/>
            <a:ext cx="2084832" cy="914400"/>
          </a:xfrm>
          <a:prstGeom prst="roundRect">
            <a:avLst>
              <a:gd name="adj" fmla="val 7000"/>
            </a:avLst>
          </a:prstGeom>
          <a:solidFill>
            <a:srgbClr val="0E8A8A"/>
          </a:solidFill>
          <a:ln/>
        </p:spPr>
      </p:sp>
      <p:sp>
        <p:nvSpPr>
          <p:cNvPr id="14" name="Text 12"/>
          <p:cNvSpPr/>
          <p:nvPr/>
        </p:nvSpPr>
        <p:spPr>
          <a:xfrm>
            <a:off x="5099152" y="1572768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دمج ‏RRF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بالرتب لا بالدرجات، ‏k=60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083400" y="1901952"/>
            <a:ext cx="365760" cy="256032"/>
          </a:xfrm>
          <a:prstGeom prst="rightArrow">
            <a:avLst/>
          </a:prstGeom>
          <a:solidFill>
            <a:srgbClr val="5A6285"/>
          </a:solidFill>
          <a:ln/>
        </p:spPr>
      </p:sp>
      <p:sp>
        <p:nvSpPr>
          <p:cNvPr id="16" name="Shape 14"/>
          <p:cNvSpPr/>
          <p:nvPr/>
        </p:nvSpPr>
        <p:spPr>
          <a:xfrm>
            <a:off x="7302856" y="1572768"/>
            <a:ext cx="2084832" cy="914400"/>
          </a:xfrm>
          <a:prstGeom prst="roundRect">
            <a:avLst>
              <a:gd name="adj" fmla="val 7000"/>
            </a:avLst>
          </a:prstGeom>
          <a:solidFill>
            <a:srgbClr val="6258A6"/>
          </a:solidFill>
          <a:ln/>
        </p:spPr>
      </p:sp>
      <p:sp>
        <p:nvSpPr>
          <p:cNvPr id="17" name="Text 15"/>
          <p:cNvSpPr/>
          <p:nvPr/>
        </p:nvSpPr>
        <p:spPr>
          <a:xfrm>
            <a:off x="7348576" y="1572768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cross-encoder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إعادة ترتيب ‏rerank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332824" y="1901952"/>
            <a:ext cx="365760" cy="256032"/>
          </a:xfrm>
          <a:prstGeom prst="rightArrow">
            <a:avLst/>
          </a:prstGeom>
          <a:solidFill>
            <a:srgbClr val="5A6285"/>
          </a:solidFill>
          <a:ln/>
        </p:spPr>
      </p:sp>
      <p:sp>
        <p:nvSpPr>
          <p:cNvPr id="19" name="Shape 17"/>
          <p:cNvSpPr/>
          <p:nvPr/>
        </p:nvSpPr>
        <p:spPr>
          <a:xfrm>
            <a:off x="9552280" y="1572768"/>
            <a:ext cx="2084832" cy="914400"/>
          </a:xfrm>
          <a:prstGeom prst="roundRect">
            <a:avLst>
              <a:gd name="adj" fmla="val 7000"/>
            </a:avLst>
          </a:prstGeom>
          <a:solidFill>
            <a:srgbClr val="33CC99"/>
          </a:solidFill>
          <a:ln/>
        </p:spPr>
      </p:sp>
      <p:sp>
        <p:nvSpPr>
          <p:cNvPr id="20" name="Text 18"/>
          <p:cNvSpPr/>
          <p:nvPr/>
        </p:nvSpPr>
        <p:spPr>
          <a:xfrm>
            <a:off x="9598000" y="1572768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إجابة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استشهادات مرقّمة ‏Source 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14400" y="2697480"/>
            <a:ext cx="10362895" cy="2606040"/>
          </a:xfrm>
          <a:prstGeom prst="roundRect">
            <a:avLst>
              <a:gd name="adj" fmla="val 3509"/>
            </a:avLst>
          </a:prstGeom>
          <a:solidFill>
            <a:srgbClr val="273470"/>
          </a:solidFill>
          <a:ln/>
        </p:spPr>
      </p:sp>
      <p:sp>
        <p:nvSpPr>
          <p:cNvPr id="22" name="Text 20"/>
          <p:cNvSpPr/>
          <p:nvPr/>
        </p:nvSpPr>
        <p:spPr>
          <a:xfrm>
            <a:off x="1234440" y="2852928"/>
            <a:ext cx="97228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7EE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Q: Which product has the highest revenue in the catalog?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A: [REGENCY CAKESTAND 3 TIER] It ranks 1 out of 1791 products by total revenue.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It is the top product by revenue: the number one best-selling,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highest-revenue product in the entire catalog. [Source 1]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B9C0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stage-by-stage top-3 ids (each stage re-ranks the candidates):</a:t>
            </a:r>
            <a:endParaRPr lang="en-US" sz="14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7EE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BM25                  Vector                RRF                   Rerank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22423_chunk_005       22423_chunk_006       22423_chunk_006       22423_chunk_005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22423_chunk_006       22423_chunk_005       22423_chunk_005       22423_chunk_006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21915_chunk_006       84952C_chunk_005      22752_chunk_005       22752_chunk_005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54864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6F7F1"/>
          </a:solidFill>
          <a:ln w="12700">
            <a:solidFill>
              <a:srgbClr val="33CC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486400"/>
            <a:ext cx="10637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E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الدليل ‏evidence/rag:‏  </a:t>
            </a:r>
            <a:pPr rtl="1" algn="r" indent="0" marL="0">
              <a:buNone/>
            </a:pPr>
            <a:r>
              <a:rPr lang="en-US" sz="16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 إجابات باستشهادات، ومقارنة ترتيب تثبت أن كل مرحلة تغيّر النتيجة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76127" y="384048"/>
            <a:ext cx="566928" cy="566928"/>
          </a:xfrm>
          <a:prstGeom prst="ellipse">
            <a:avLst/>
          </a:prstGeom>
          <a:solidFill>
            <a:srgbClr val="6258A6"/>
          </a:solidFill>
          <a:ln/>
        </p:spPr>
      </p:sp>
      <p:sp>
        <p:nvSpPr>
          <p:cNvPr id="3" name="Text 1"/>
          <p:cNvSpPr/>
          <p:nvPr/>
        </p:nvSpPr>
        <p:spPr>
          <a:xfrm>
            <a:off x="11076127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9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تنسيق ‏Airflow DAG‏ بعشر مهام</a:t>
            </a:r>
            <a:endParaRPr lang="ar-SA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429768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33CC99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2976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15‏ نقطة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852160" y="1417320"/>
            <a:ext cx="5760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177800" indent="-1778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مرحلة مهمة ‏BashOperator‏ مستقلة</a:t>
            </a:r>
            <a:endParaRPr lang="en-US" sz="1700" dirty="0"/>
          </a:p>
          <a:p>
            <a:pPr rtl="1" algn="r" marL="177800" indent="-1778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الاعتماديات صريحة، بوابة ‏gate‏ قبل أي تحويل</a:t>
            </a:r>
            <a:endParaRPr lang="en-US" sz="1700" dirty="0"/>
          </a:p>
          <a:p>
            <a:pPr rtl="1" algn="r" marL="177800" indent="-1778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القاعدة الافتراضية ‏trigger_rule = all_success‏ تكفي</a:t>
            </a:r>
            <a:endParaRPr lang="en-US" sz="1700" dirty="0"/>
          </a:p>
          <a:p>
            <a:pPr rtl="1" algn="r" marL="177800" indent="-1778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بوابة تفشل بـ ‏exit code 1‏ فيتوقف ما بعدها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914400" y="1417320"/>
            <a:ext cx="4206240" cy="566928"/>
          </a:xfrm>
          <a:prstGeom prst="roundRect">
            <a:avLst>
              <a:gd name="adj" fmla="val 14516"/>
            </a:avLst>
          </a:prstGeom>
          <a:solidFill>
            <a:srgbClr val="F2F3FA"/>
          </a:solidFill>
          <a:ln w="9525">
            <a:solidFill>
              <a:srgbClr val="D6DA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41732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فشل ‏GX checkpoint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1984248"/>
            <a:ext cx="182880" cy="182880"/>
          </a:xfrm>
          <a:prstGeom prst="downArrow">
            <a:avLst/>
          </a:prstGeom>
          <a:solidFill>
            <a:srgbClr val="5A6285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2167128"/>
            <a:ext cx="4206240" cy="566928"/>
          </a:xfrm>
          <a:prstGeom prst="roundRect">
            <a:avLst>
              <a:gd name="adj" fmla="val 14516"/>
            </a:avLst>
          </a:prstGeom>
          <a:solidFill>
            <a:srgbClr val="F2F3FA"/>
          </a:solidFill>
          <a:ln w="9525">
            <a:solidFill>
              <a:srgbClr val="D6DA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216712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السكربت ينفّذ ‏sys.exit(1)‎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2926080" y="2734056"/>
            <a:ext cx="182880" cy="182880"/>
          </a:xfrm>
          <a:prstGeom prst="downArrow">
            <a:avLst/>
          </a:prstGeom>
          <a:solidFill>
            <a:srgbClr val="5A6285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2916936"/>
            <a:ext cx="4206240" cy="566928"/>
          </a:xfrm>
          <a:prstGeom prst="roundRect">
            <a:avLst>
              <a:gd name="adj" fmla="val 14516"/>
            </a:avLst>
          </a:prstGeom>
          <a:solidFill>
            <a:srgbClr val="F2F3FA"/>
          </a:solidFill>
          <a:ln w="9525">
            <a:solidFill>
              <a:srgbClr val="D6DA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2916936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Airflow‏ يعلّم المهمة ‏failed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2926080" y="3483864"/>
            <a:ext cx="182880" cy="182880"/>
          </a:xfrm>
          <a:prstGeom prst="downArrow">
            <a:avLst/>
          </a:prstGeom>
          <a:solidFill>
            <a:srgbClr val="5A6285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400" y="3666744"/>
            <a:ext cx="4206240" cy="566928"/>
          </a:xfrm>
          <a:prstGeom prst="roundRect">
            <a:avLst>
              <a:gd name="adj" fmla="val 14516"/>
            </a:avLst>
          </a:prstGeom>
          <a:solidFill>
            <a:srgbClr val="273470"/>
          </a:solidFill>
          <a:ln w="9525">
            <a:solidFill>
              <a:srgbClr val="D6DA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3666744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ما بعدها ‏upstream_failed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02920" y="4663440"/>
            <a:ext cx="11183112" cy="1353312"/>
          </a:xfrm>
          <a:prstGeom prst="roundRect">
            <a:avLst>
              <a:gd name="adj" fmla="val 5405"/>
            </a:avLst>
          </a:prstGeom>
          <a:solidFill>
            <a:srgbClr val="FAFCFC"/>
          </a:solidFill>
          <a:ln w="12700">
            <a:solidFill>
              <a:srgbClr val="D6DAEC"/>
            </a:solidFill>
            <a:prstDash val="solid"/>
          </a:ln>
        </p:spPr>
      </p:sp>
      <p:pic>
        <p:nvPicPr>
          <p:cNvPr id="20" name="Image 0" descr="C:/Users/abdul/sdaia-capstone/evidence/airflow/05_success_run_all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800600"/>
            <a:ext cx="11091672" cy="874166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868680" y="6053328"/>
            <a:ext cx="10424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5A6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تشغيلة نظيفة، ‏10‏ من ‏10‏ مهام خضراء في ‏Graph view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76127" y="566928"/>
            <a:ext cx="566928" cy="566928"/>
          </a:xfrm>
          <a:prstGeom prst="ellipse">
            <a:avLst/>
          </a:prstGeom>
          <a:solidFill>
            <a:srgbClr val="6258A6"/>
          </a:solidFill>
          <a:ln/>
        </p:spPr>
      </p:sp>
      <p:sp>
        <p:nvSpPr>
          <p:cNvPr id="3" name="Text 1"/>
          <p:cNvSpPr/>
          <p:nvPr/>
        </p:nvSpPr>
        <p:spPr>
          <a:xfrm>
            <a:off x="11076127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9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بوابتا جودة ‏Great Expectations‏ + نسب ‏OpenLineage</a:t>
            </a:r>
            <a:endParaRPr lang="ar-SA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612648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33CC99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1264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15‏ نقطة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93815" y="160020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2F3FA"/>
          </a:solidFill>
          <a:ln w="15875">
            <a:solidFill>
              <a:srgbClr val="0E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22415" y="173736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0E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بوابة ‏Bronze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568135" y="2286000"/>
            <a:ext cx="4800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152400" indent="-152400">
              <a:spcAft>
                <a:spcPts val="800"/>
              </a:spcAft>
              <a:buSzPct val="100000"/>
              <a:buChar char="▪"/>
            </a:pPr>
            <a:r>
              <a:rPr lang="en-US" sz="15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فحوص على مستوى العقد ‏contract</a:t>
            </a:r>
            <a:endParaRPr lang="en-US" sz="1500" dirty="0"/>
          </a:p>
          <a:p>
            <a:pPr rtl="1" algn="r" marL="152400" indent="-152400">
              <a:buSzPct val="100000"/>
              <a:buChar char="▪"/>
            </a:pPr>
            <a:r>
              <a:rPr lang="en-US" sz="15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not-null‏ ونمط رقم الفاتورة ‏regex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160020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2F3FA"/>
          </a:solidFill>
          <a:ln w="15875">
            <a:solidFill>
              <a:srgbClr val="C039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173736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بوابة ‏Silver، البوابة الموقِفة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22960" y="2286000"/>
            <a:ext cx="4800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152400" indent="-152400">
              <a:spcAft>
                <a:spcPts val="800"/>
              </a:spcAft>
              <a:buSzPct val="100000"/>
              <a:buChar char="▪"/>
            </a:pPr>
            <a:r>
              <a:rPr lang="en-US" sz="15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التفرد المركّب ‏compound uniqueness‏ للمفتاح</a:t>
            </a:r>
            <a:endParaRPr lang="en-US" sz="1500" dirty="0"/>
          </a:p>
          <a:p>
            <a:pPr rtl="1" algn="r" marL="152400" indent="-152400">
              <a:buSzPct val="100000"/>
              <a:buChar char="▪"/>
            </a:pPr>
            <a:r>
              <a:rPr lang="en-US" sz="15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توقّع قادر على الفشل فعلاً، ليس ديكوراً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11094415" cy="1143000"/>
          </a:xfrm>
          <a:prstGeom prst="roundRect">
            <a:avLst>
              <a:gd name="adj" fmla="val 8000"/>
            </a:avLst>
          </a:prstGeom>
          <a:solidFill>
            <a:srgbClr val="27347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023360"/>
            <a:ext cx="105457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33C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OpenLineage:‏  </a:t>
            </a:r>
            <a:pPr rtl="1"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أحداث ‏START / COMPLETE / FAIL‏ من كل مرحلة، بمعرّف تشغيل ‏runId‏ واحد للأنبوب كله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54864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6F7F1"/>
          </a:solidFill>
          <a:ln w="12700">
            <a:solidFill>
              <a:srgbClr val="33CC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486400"/>
            <a:ext cx="10637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E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الدليل ‏evidence/ge_lineage:‏  </a:t>
            </a:r>
            <a:pPr rtl="1" algn="r" indent="0" marL="0">
              <a:buNone/>
            </a:pPr>
            <a:r>
              <a:rPr lang="en-US" sz="1600" dirty="0">
                <a:solidFill>
                  <a:srgbClr val="1C2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نتائج ‏checkpoint‏ ناجحة وفاشلة، وأحداث ‏lineage‏ متسلسلة بنفس ‏runId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7347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أثبتنا مسارات الفشل، لا ندّعيها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044788" y="137160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333F82"/>
          </a:solidFill>
          <a:ln w="9525">
            <a:solidFill>
              <a:srgbClr val="4A55A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110064" y="1115568"/>
            <a:ext cx="475488" cy="475488"/>
          </a:xfrm>
          <a:prstGeom prst="ellipse">
            <a:avLst/>
          </a:prstGeom>
          <a:solidFill>
            <a:srgbClr val="33CC99"/>
          </a:solidFill>
          <a:ln w="19050">
            <a:solidFill>
              <a:srgbClr val="2734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110064" y="1115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36228" y="1691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حقن متعمد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72804" y="2212848"/>
            <a:ext cx="2350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B9C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تكرارات دُسَّت في ‏Silver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0148" y="137160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333F82"/>
          </a:solidFill>
          <a:ln w="9525">
            <a:solidFill>
              <a:srgbClr val="4A55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275424" y="1115568"/>
            <a:ext cx="475488" cy="475488"/>
          </a:xfrm>
          <a:prstGeom prst="ellipse">
            <a:avLst/>
          </a:prstGeom>
          <a:solidFill>
            <a:srgbClr val="C0392B"/>
          </a:solidFill>
          <a:ln w="19050">
            <a:solidFill>
              <a:srgbClr val="27347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275424" y="1115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301588" y="1691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البوابة حمراء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338164" y="2212848"/>
            <a:ext cx="2350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B9C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ge_gate_silver‏ يفشل الـ ‏checkpoint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375508" y="137160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333F82"/>
          </a:solidFill>
          <a:ln w="9525">
            <a:solidFill>
              <a:srgbClr val="4A55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40784" y="1115568"/>
            <a:ext cx="475488" cy="475488"/>
          </a:xfrm>
          <a:prstGeom prst="ellipse">
            <a:avLst/>
          </a:prstGeom>
          <a:solidFill>
            <a:srgbClr val="33CC99"/>
          </a:solidFill>
          <a:ln w="19050">
            <a:solidFill>
              <a:srgbClr val="27347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40784" y="1115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466948" y="1691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التوقف التلقائي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503524" y="2212848"/>
            <a:ext cx="2350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B9C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3‏ مهام ‏upstream_failed‏ لم تعمل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0868" y="137160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333F82"/>
          </a:solidFill>
          <a:ln w="9525">
            <a:solidFill>
              <a:srgbClr val="4A55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6144" y="1115568"/>
            <a:ext cx="475488" cy="475488"/>
          </a:xfrm>
          <a:prstGeom prst="ellipse">
            <a:avLst/>
          </a:prstGeom>
          <a:solidFill>
            <a:srgbClr val="33CC99"/>
          </a:solidFill>
          <a:ln w="19050">
            <a:solidFill>
              <a:srgbClr val="27347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06144" y="1115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32308" y="1691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الاستعادة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68884" y="2212848"/>
            <a:ext cx="2350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B9C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reset_demo_state‏ يعيد النظافة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2920" y="3383280"/>
            <a:ext cx="1118311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</p:spPr>
      </p:sp>
      <p:pic>
        <p:nvPicPr>
          <p:cNvPr id="24" name="Image 0" descr="C:/Users/abdul/sdaia-capstone/evidence/airflow/01_failed_run_graph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520440"/>
            <a:ext cx="11091672" cy="886968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896112" y="4480560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أحمر — ‏ge_gate_silver‏ فشلت   ·   </a:t>
            </a:r>
            <a:pPr rtl="1" algn="ctr" indent="0" marL="0">
              <a:buNone/>
            </a:pPr>
            <a:r>
              <a:rPr lang="en-US" sz="1250" b="1" dirty="0">
                <a:solidFill>
                  <a:srgbClr val="D689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أصفر —‏ ثلاث مهام ‏upstream_failed‏ لم تُشغَّل أصلاً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1554480" y="5212080"/>
            <a:ext cx="9082735" cy="960120"/>
          </a:xfrm>
          <a:prstGeom prst="roundRect">
            <a:avLst>
              <a:gd name="adj" fmla="val 9524"/>
            </a:avLst>
          </a:prstGeom>
          <a:solidFill>
            <a:srgbClr val="333F82"/>
          </a:solidFill>
          <a:ln w="12700">
            <a:solidFill>
              <a:srgbClr val="33CC9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783080" y="5212080"/>
            <a:ext cx="8625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33C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وفشل حقيقي غير متعمد —‏ </a:t>
            </a:r>
            <a:pPr rtl="1"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خطأ ‏UUID‏ في ‏OpenLineage‏ مبكراً، شُخِّص وأُصلح بـ ‏commit‏ موثق ‏62c1417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900" b="1" dirty="0">
                <a:solidFill>
                  <a:srgbClr val="273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الانضباط الهندسي: كيف بُني المشروع</a:t>
            </a:r>
            <a:endParaRPr lang="ar-SA" sz="29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3017520" cy="4480560"/>
          </a:xfrm>
          <a:prstGeom prst="roundRect">
            <a:avLst>
              <a:gd name="adj" fmla="val 2424"/>
            </a:avLst>
          </a:prstGeom>
          <a:solidFill>
            <a:srgbClr val="FAFCFC"/>
          </a:solidFill>
          <a:ln w="12700">
            <a:solidFill>
              <a:srgbClr val="D6DAEC"/>
            </a:solidFill>
            <a:prstDash val="solid"/>
          </a:ln>
        </p:spPr>
      </p:sp>
      <p:pic>
        <p:nvPicPr>
          <p:cNvPr id="4" name="Image 0" descr="C:/Users/abdul/sdaia-capstone/evidence/airflow/04_grid_all_runs_hi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1600200"/>
            <a:ext cx="2487168" cy="31181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480060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5A6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سجل التشغيلات كاملاً في ‏Grid view، فشل مبكر ثم نجاحان ثم فشل متعمد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7939735" y="1554480"/>
            <a:ext cx="3703320" cy="2011680"/>
          </a:xfrm>
          <a:prstGeom prst="roundRect">
            <a:avLst>
              <a:gd name="adj" fmla="val 4091"/>
            </a:avLst>
          </a:prstGeom>
          <a:solidFill>
            <a:srgbClr val="F2F3FA"/>
          </a:solidFill>
          <a:ln w="9525">
            <a:solidFill>
              <a:srgbClr val="D6DA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939735" y="1682496"/>
            <a:ext cx="3703320" cy="1046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+40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8049463" y="2721254"/>
            <a:ext cx="3483864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5A6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commit‏ تدريجياً، تاريخ بناء حقيقي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007815" y="1554480"/>
            <a:ext cx="3703320" cy="2011680"/>
          </a:xfrm>
          <a:prstGeom prst="roundRect">
            <a:avLst>
              <a:gd name="adj" fmla="val 4091"/>
            </a:avLst>
          </a:prstGeom>
          <a:solidFill>
            <a:srgbClr val="F2F3FA"/>
          </a:solidFill>
          <a:ln w="9525">
            <a:solidFill>
              <a:srgbClr val="D6DA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007815" y="1682496"/>
            <a:ext cx="3703320" cy="1046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4117543" y="2721254"/>
            <a:ext cx="3483864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5A6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اختبار وحدة ‏TDD، أمسك كسراً فعلياً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939735" y="3886200"/>
            <a:ext cx="3703320" cy="2011680"/>
          </a:xfrm>
          <a:prstGeom prst="roundRect">
            <a:avLst>
              <a:gd name="adj" fmla="val 4091"/>
            </a:avLst>
          </a:prstGeom>
          <a:solidFill>
            <a:srgbClr val="F2F3FA"/>
          </a:solidFill>
          <a:ln w="9525">
            <a:solidFill>
              <a:srgbClr val="D6DA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939735" y="4014216"/>
            <a:ext cx="3703320" cy="1046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8049463" y="5052974"/>
            <a:ext cx="3483864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5A6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وثيقتا ‏PRD + ARCHITECTURE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4007815" y="3886200"/>
            <a:ext cx="3703320" cy="2011680"/>
          </a:xfrm>
          <a:prstGeom prst="roundRect">
            <a:avLst>
              <a:gd name="adj" fmla="val 4091"/>
            </a:avLst>
          </a:prstGeom>
          <a:solidFill>
            <a:srgbClr val="F2F3FA"/>
          </a:solidFill>
          <a:ln w="9525">
            <a:solidFill>
              <a:srgbClr val="D6DA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007815" y="4014216"/>
            <a:ext cx="3703320" cy="1046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3C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4000" dirty="0"/>
          </a:p>
        </p:txBody>
      </p:sp>
      <p:sp>
        <p:nvSpPr>
          <p:cNvPr id="17" name="Text 14"/>
          <p:cNvSpPr/>
          <p:nvPr/>
        </p:nvSpPr>
        <p:spPr>
          <a:xfrm>
            <a:off x="4117543" y="5052974"/>
            <a:ext cx="3483864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5A6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مكونات حقيقية بلا ‏mocks‏ —‏ تدفق الأحداث يُعاد بثه من بيانات حقيقية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7347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7286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خمسة متطلبات، خمسة أدلة، وأنبوب ينجح ويفشل بصدق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B9C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الأدلة، الكود، والتوثيق في المستودع: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804008" y="3703320"/>
            <a:ext cx="6583680" cy="777240"/>
          </a:xfrm>
          <a:prstGeom prst="roundRect">
            <a:avLst>
              <a:gd name="adj" fmla="val 49412"/>
            </a:avLst>
          </a:prstGeom>
          <a:solidFill>
            <a:srgbClr val="333F82"/>
          </a:solidFill>
          <a:ln w="15875">
            <a:solidFill>
              <a:srgbClr val="33CC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804008" y="370332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3C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github.com/AK7Amin/SDAIA-DATA-Engineering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731520" y="4892040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نرحّب بأسئلتكم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9C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SDAIA Academy · Modern Data Engineering for AI Systems · 2026</a:t>
            </a:r>
            <a:endParaRPr lang="en-US" sz="1200" dirty="0"/>
          </a:p>
        </p:txBody>
      </p:sp>
      <p:sp>
        <p:nvSpPr>
          <p:cNvPr id="8" name="Rounded Rectangle 7"/>
          <p:cNvSpPr/>
          <p:nvPr/>
        </p:nvSpPr>
        <p:spPr>
          <a:xfrm>
            <a:off x="9631375" y="3177540"/>
            <a:ext cx="182880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po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2815" y="3268980"/>
            <a:ext cx="1645920" cy="1645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494215" y="5079492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 rtl="1"/>
            <a:r>
              <a:rPr sz="1200" b="0">
                <a:solidFill>
                  <a:srgbClr val="B9C0E4"/>
                </a:solidFill>
                <a:latin typeface="Arial"/>
              </a:rPr>
              <a:t>امسح للمستودع ‏·‏ scan for the repo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2026-08-06T10:21:18Z</dcterms:created>
  <dcterms:modified xsi:type="dcterms:W3CDTF">2026-08-06T10:21:18Z</dcterms:modified>
</cp:coreProperties>
</file>