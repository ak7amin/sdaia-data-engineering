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التحية والتقديم: فريق من أربعة، مشروع ختامي متكامل — استيعاب لحظي، بحيرة بيانات، مساعد RAG، تنسيق Airflow، وجودة تُوقف الأنبوب فعلاً.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اخترنا بيانات UCI الحقيقية عمداً: عيوبها الحقيقية (فقدان، سوالب، تكرارات) هي التي تختبر بوابات الجودة ومسارات الفشل بصدق.
Citation: Chen, D. (2015). Online Retail. UCI ML Repository. doi:10.24432/C5BW33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مساران للفشل مدمجان في التصميم: العقد يرفض الرسالة الواحدة إلى DLQ، وبوابة GE ترفض الدفعة كمجموعة وتوقف كل ما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لماذا DLQ؟ الإسقاط الصامت فقدان بلا أثر، وإيقاف الأنبوب لرسالة واحدة يعطل الصالح خلفها. DLQ يحفظ الرسالة مع سببها ويُبقي الأنبوب جارياً.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لماذا MERGE لا append/overwrite؟ المصدر بثّ قد يعيد الرسالة: append يكرر، وoverwrite يمسح التاريخ. MERGE على المفتاح يجعل إعادة التشغيل تعطي نفس النتيجة.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لماذا هجين؟ المتجهات تفهم المعنى لكنها تضيع أكواد المنتجات مثل 85123A، وBM25 يلتقطها فوراً. RRF يدمج بالرتب لأن الدرجتين على مقياسين مختلفين. الـ cross-encoder يقرأ السؤال والوثيقة معاً — دقيق لكنه بطيء، فنستعمله على أفضل المرشحين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لم نكتب منطق الإيقاف بأنفسنا: قاعدة التشغيل الافتراضية all_success تعني أن فشل أي مهمة يجمّد كل ما بعدها تلقائياً — هذا سبب استخدام منسّق orchestrator أصلاً.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أليس Pydantic + GE تكراراً؟ لا: العقد يفحص الرسالة الواحدة لحظة الوصول، وGE يفحص الدفعة كمجموعة (تفرد وتوزيعات) — كالمطار: جواز كل مسافر وحده، وقائمة الركاب كاملة قبل الإقلاع.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السؤال شبه المؤكد: لماذا فشلت الثانية لا الأولى؟ لأن التكرار خاصية على مستوى المجموعة لا يراها فحص السجل الواحد — التقطه توقّع التفرد في GE. هذا بالضبط سبب حاجتنا لطبقتي فحص.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TDD ليس شكلياً: تغيير الرؤوس السياقية في التقطيع كسر اختبارين قبل أن يصل الكسر للفهرس. وGrid يوضح التاريخ الصادق: فشل حقيقي مبكر ثم نجاحان ثم فشل متعمد.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افتح الباب للأسئلة. كل بند من البنود الخمسة له مجلد أدلة خاص في evidence/ يمكن فتحه مباشرة عند أي سؤال.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6012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بيانات لحظية بمساعد ذكي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938528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E-Commerce Data Platform with RAG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067648" y="3246120"/>
            <a:ext cx="2670048" cy="1024128"/>
          </a:xfrm>
          <a:prstGeom prst="roundRect">
            <a:avLst>
              <a:gd name="adj" fmla="val 8929"/>
            </a:avLst>
          </a:prstGeom>
          <a:solidFill>
            <a:srgbClr val="10505F"/>
          </a:solidFill>
          <a:ln w="9525">
            <a:solidFill>
              <a:srgbClr val="1E6B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0800" y="333756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عبدالعزيز بن خالد مليا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0800" y="378561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C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Abdulaziz Mulia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96432" y="3246120"/>
            <a:ext cx="2670048" cy="1024128"/>
          </a:xfrm>
          <a:prstGeom prst="roundRect">
            <a:avLst>
              <a:gd name="adj" fmla="val 8929"/>
            </a:avLst>
          </a:prstGeom>
          <a:solidFill>
            <a:srgbClr val="10505F"/>
          </a:solidFill>
          <a:ln w="9525">
            <a:solidFill>
              <a:srgbClr val="1E6B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9584" y="333756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سيف بن نايف أبوخميس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69584" y="378561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C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Saif Abukhamis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25216" y="3246120"/>
            <a:ext cx="2670048" cy="1024128"/>
          </a:xfrm>
          <a:prstGeom prst="roundRect">
            <a:avLst>
              <a:gd name="adj" fmla="val 8929"/>
            </a:avLst>
          </a:prstGeom>
          <a:solidFill>
            <a:srgbClr val="10505F"/>
          </a:solidFill>
          <a:ln w="9525">
            <a:solidFill>
              <a:srgbClr val="1E6B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8368" y="333756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فراس بن محمد الحربي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398368" y="378561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C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Feras Al-Harbi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4000" y="3246120"/>
            <a:ext cx="2670048" cy="1024128"/>
          </a:xfrm>
          <a:prstGeom prst="roundRect">
            <a:avLst>
              <a:gd name="adj" fmla="val 8929"/>
            </a:avLst>
          </a:prstGeom>
          <a:solidFill>
            <a:srgbClr val="10505F"/>
          </a:solidFill>
          <a:ln w="9525">
            <a:solidFill>
              <a:srgbClr val="1E6B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7152" y="333756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فيصل بن عبدالله العبدالجبار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27152" y="378561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C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Faisal Al-Abdul-Jabbar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89204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أكاديمية سدايا ‏SDAIA Academy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5321808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CDE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المدرب ‏Mohammed Albeladi‏ —‏ محمد البلادي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733288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C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Data Engineering for AI Systems   ·   August 2–6,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9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القصة في سطر: بيانات حقيقية بعيوب حقيقية</a:t>
            </a:r>
            <a:endParaRPr lang="ar-SA" sz="2900" dirty="0"/>
          </a:p>
        </p:txBody>
      </p:sp>
      <p:sp>
        <p:nvSpPr>
          <p:cNvPr id="3" name="Shape 1"/>
          <p:cNvSpPr/>
          <p:nvPr/>
        </p:nvSpPr>
        <p:spPr>
          <a:xfrm>
            <a:off x="9021928" y="155448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F0F6F5"/>
          </a:solidFill>
          <a:ln w="9525">
            <a:solidFill>
              <a:srgbClr val="CFE0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21928" y="1682496"/>
            <a:ext cx="2651760" cy="1022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541,909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31656" y="2694737"/>
            <a:ext cx="2432304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5B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معاملة حقيقية من ‏UCI Online Retail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87288" y="155448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F0F6F5"/>
          </a:solidFill>
          <a:ln w="9525">
            <a:solidFill>
              <a:srgbClr val="CFE0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87288" y="1682496"/>
            <a:ext cx="2651760" cy="1022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297016" y="2694737"/>
            <a:ext cx="2432304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5B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قيمة ‏CustomerID‏ مفقودة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52648" y="155448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F0F6F5"/>
          </a:solidFill>
          <a:ln w="9525">
            <a:solidFill>
              <a:srgbClr val="CFE0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2648" y="1682496"/>
            <a:ext cx="2651760" cy="1022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8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5,268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462376" y="2694737"/>
            <a:ext cx="2432304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5B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صفاً مكرراً ‏duplicates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18008" y="155448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F0F6F5"/>
          </a:solidFill>
          <a:ln w="9525">
            <a:solidFill>
              <a:srgbClr val="CFE0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008" y="1682496"/>
            <a:ext cx="2651760" cy="1022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سالبة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7736" y="2694737"/>
            <a:ext cx="2432304" cy="7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5B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كميات سالبة، إلغاءات حقيقية ‏cancellations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894680" y="3794760"/>
            <a:ext cx="402336" cy="548640"/>
          </a:xfrm>
          <a:prstGeom prst="downArrow">
            <a:avLst/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1554480" y="4572000"/>
            <a:ext cx="9082735" cy="1051560"/>
          </a:xfrm>
          <a:prstGeom prst="roundRect">
            <a:avLst>
              <a:gd name="adj" fmla="val 8696"/>
            </a:avLst>
          </a:prstGeom>
          <a:solidFill>
            <a:srgbClr val="0B3B4C"/>
          </a:solidFill>
          <a:ln/>
        </p:spPr>
      </p:sp>
      <p:sp>
        <p:nvSpPr>
          <p:cNvPr id="17" name="Text 15"/>
          <p:cNvSpPr/>
          <p:nvPr/>
        </p:nvSpPr>
        <p:spPr>
          <a:xfrm>
            <a:off x="1783080" y="4572000"/>
            <a:ext cx="8625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أنبوب ‏production-style‏ كامل يعالج هذه العيوب، لا بيانات مصطنعة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9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المعمارية: من الرسالة إلى الإجابة</a:t>
            </a:r>
            <a:endParaRPr lang="ar-SA" sz="29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retail_transactions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07208" y="141732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0B3B4C"/>
          </a:solidFill>
          <a:ln/>
        </p:spPr>
      </p:sp>
      <p:sp>
        <p:nvSpPr>
          <p:cNvPr id="6" name="Text 4"/>
          <p:cNvSpPr/>
          <p:nvPr/>
        </p:nvSpPr>
        <p:spPr>
          <a:xfrm>
            <a:off x="2852928" y="14173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عقد ‏Pydantic contract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كل رسالة عند الحدود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57216" y="141732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5202936" y="14173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— Delta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خام وتدقيق ‏audit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07224" y="141732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552944" y="14173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‏GE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فحوص العقد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857232" y="141732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9902952" y="14173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— Delta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MERGE‏ على مفتاح العمل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32304" y="1723644"/>
            <a:ext cx="365760" cy="256032"/>
          </a:xfrm>
          <a:prstGeom prst="rightArrow">
            <a:avLst/>
          </a:prstGeom>
          <a:solidFill>
            <a:srgbClr val="5B7176"/>
          </a:solidFill>
          <a:ln/>
        </p:spPr>
      </p:sp>
      <p:sp>
        <p:nvSpPr>
          <p:cNvPr id="14" name="Shape 12"/>
          <p:cNvSpPr/>
          <p:nvPr/>
        </p:nvSpPr>
        <p:spPr>
          <a:xfrm>
            <a:off x="4782312" y="1723644"/>
            <a:ext cx="365760" cy="256032"/>
          </a:xfrm>
          <a:prstGeom prst="rightArrow">
            <a:avLst/>
          </a:prstGeom>
          <a:solidFill>
            <a:srgbClr val="5B7176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0" y="1723644"/>
            <a:ext cx="365760" cy="256032"/>
          </a:xfrm>
          <a:prstGeom prst="rightArrow">
            <a:avLst/>
          </a:prstGeom>
          <a:solidFill>
            <a:srgbClr val="5B7176"/>
          </a:solidFill>
          <a:ln/>
        </p:spPr>
      </p:sp>
      <p:sp>
        <p:nvSpPr>
          <p:cNvPr id="16" name="Shape 14"/>
          <p:cNvSpPr/>
          <p:nvPr/>
        </p:nvSpPr>
        <p:spPr>
          <a:xfrm>
            <a:off x="9482328" y="1723644"/>
            <a:ext cx="365760" cy="256032"/>
          </a:xfrm>
          <a:prstGeom prst="rightArrow">
            <a:avLst/>
          </a:prstGeom>
          <a:solidFill>
            <a:srgbClr val="5B717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80460" y="2359152"/>
            <a:ext cx="219456" cy="384048"/>
          </a:xfrm>
          <a:prstGeom prst="downArrow">
            <a:avLst/>
          </a:prstGeom>
          <a:solidFill>
            <a:srgbClr val="C039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670048" y="2788920"/>
            <a:ext cx="2240280" cy="685800"/>
          </a:xfrm>
          <a:prstGeom prst="roundRect">
            <a:avLst>
              <a:gd name="adj" fmla="val 9333"/>
            </a:avLst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2715768" y="27889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dead-letter topic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الرسالة المرفوضة وسبب الرفض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730484" y="2359152"/>
            <a:ext cx="219456" cy="1225296"/>
          </a:xfrm>
          <a:prstGeom prst="downArrow">
            <a:avLst/>
          </a:prstGeom>
          <a:solidFill>
            <a:srgbClr val="5B7176"/>
          </a:solidFill>
          <a:ln/>
        </p:spPr>
      </p:sp>
      <p:sp>
        <p:nvSpPr>
          <p:cNvPr id="21" name="Shape 19"/>
          <p:cNvSpPr/>
          <p:nvPr/>
        </p:nvSpPr>
        <p:spPr>
          <a:xfrm>
            <a:off x="9448495" y="3657600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9494215" y="3657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‏GE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التفرد ‏uniqueness‏ وتوقف الأنبوب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51015" y="3657600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0E7C86"/>
          </a:solidFill>
          <a:ln/>
        </p:spPr>
      </p:sp>
      <p:sp>
        <p:nvSpPr>
          <p:cNvPr id="24" name="Text 22"/>
          <p:cNvSpPr/>
          <p:nvPr/>
        </p:nvSpPr>
        <p:spPr>
          <a:xfrm>
            <a:off x="6796735" y="3657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— Delta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تجميع مرتب بالإيراد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053535" y="3657600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0B3B4C"/>
          </a:solidFill>
          <a:ln/>
        </p:spPr>
      </p:sp>
      <p:sp>
        <p:nvSpPr>
          <p:cNvPr id="26" name="Text 24"/>
          <p:cNvSpPr/>
          <p:nvPr/>
        </p:nvSpPr>
        <p:spPr>
          <a:xfrm>
            <a:off x="4099255" y="3657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فهرسة ‏RAG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+ BM25 → RRF → rerank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356055" y="3657600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1401775" y="3657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إجابة باستشهادات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 N]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064447" y="3963924"/>
            <a:ext cx="365760" cy="256032"/>
          </a:xfrm>
          <a:prstGeom prst="leftArrow">
            <a:avLst/>
          </a:prstGeom>
          <a:solidFill>
            <a:srgbClr val="5B7176"/>
          </a:solidFill>
          <a:ln/>
        </p:spPr>
      </p:sp>
      <p:sp>
        <p:nvSpPr>
          <p:cNvPr id="30" name="Shape 28"/>
          <p:cNvSpPr/>
          <p:nvPr/>
        </p:nvSpPr>
        <p:spPr>
          <a:xfrm>
            <a:off x="6366967" y="3963924"/>
            <a:ext cx="365760" cy="256032"/>
          </a:xfrm>
          <a:prstGeom prst="leftArrow">
            <a:avLst/>
          </a:prstGeom>
          <a:solidFill>
            <a:srgbClr val="5B7176"/>
          </a:solidFill>
          <a:ln/>
        </p:spPr>
      </p:sp>
      <p:sp>
        <p:nvSpPr>
          <p:cNvPr id="31" name="Shape 29"/>
          <p:cNvSpPr/>
          <p:nvPr/>
        </p:nvSpPr>
        <p:spPr>
          <a:xfrm>
            <a:off x="3669487" y="3963924"/>
            <a:ext cx="365760" cy="256032"/>
          </a:xfrm>
          <a:prstGeom prst="leftArrow">
            <a:avLst/>
          </a:prstGeom>
          <a:solidFill>
            <a:srgbClr val="5B7176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" y="5166360"/>
            <a:ext cx="10545775" cy="914400"/>
          </a:xfrm>
          <a:prstGeom prst="roundRect">
            <a:avLst>
              <a:gd name="adj" fmla="val 10000"/>
            </a:avLst>
          </a:prstGeom>
          <a:solidFill>
            <a:srgbClr val="F0F6F5"/>
          </a:solidFill>
          <a:ln w="9525">
            <a:solidFill>
              <a:srgbClr val="CFE0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1663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 DAG‏</a:t>
            </a:r>
            <a:pPr rtl="1" algn="ctr" indent="0" marL="0">
              <a:buNone/>
            </a:pPr>
            <a:r>
              <a:rPr lang="en-US" sz="16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ينسّق عشر مهام بالترتيب   ·   </a:t>
            </a:r>
            <a:pPr rtl="1"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OpenLineage‏</a:t>
            </a:r>
            <a:pPr rtl="1" algn="ctr" indent="0" marL="0">
              <a:buNone/>
            </a:pPr>
            <a:r>
              <a:rPr lang="en-US" sz="16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يسجّل كل مرحلة بمعرّف تشغيل موحد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11076127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9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الاستيعاب ‏ingestion‏ عبر ‏Kafka</a:t>
            </a:r>
            <a:endParaRPr lang="ar-SA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429768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297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20‏ نقطة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52160" y="1600200"/>
            <a:ext cx="5760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77800" indent="-1778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producer‏ وconsumer‏ حقيقيان على ‏Kafka KRaft</a:t>
            </a:r>
            <a:endParaRPr lang="en-US" sz="1700" dirty="0"/>
          </a:p>
          <a:p>
            <a:pPr rtl="1" algn="r" marL="177800" indent="-1778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عقد بيانات ‏Pydantic‏ يفحص كل رسالة عند الحدود</a:t>
            </a:r>
            <a:endParaRPr lang="en-US" sz="1700" dirty="0"/>
          </a:p>
          <a:p>
            <a:pPr rtl="1" algn="r" marL="177800" indent="-1778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المخالف يذهب إلى ‏dead-letter topic‏ فوراً</a:t>
            </a:r>
            <a:endParaRPr lang="en-US" sz="1700" dirty="0"/>
          </a:p>
          <a:p>
            <a:pPr rtl="1" algn="r" marL="177800" indent="-1778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سبب الرفض ‏rejection reason‏ يُسجَّل مع كل رسالة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017520" y="1600200"/>
            <a:ext cx="2377440" cy="2514600"/>
          </a:xfrm>
          <a:prstGeom prst="roundRect">
            <a:avLst>
              <a:gd name="adj" fmla="val 3462"/>
            </a:avLst>
          </a:prstGeom>
          <a:solidFill>
            <a:srgbClr val="F0F6F5"/>
          </a:solidFill>
          <a:ln w="9525">
            <a:solidFill>
              <a:srgbClr val="CFE0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728216"/>
            <a:ext cx="23774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127248" y="3058668"/>
            <a:ext cx="2157984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5B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رسالة صالحة قُبلت ووصلت ‏landing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600200"/>
            <a:ext cx="2377440" cy="2514600"/>
          </a:xfrm>
          <a:prstGeom prst="roundRect">
            <a:avLst>
              <a:gd name="adj" fmla="val 3462"/>
            </a:avLst>
          </a:prstGeom>
          <a:solidFill>
            <a:srgbClr val="F0F6F5"/>
          </a:solidFill>
          <a:ln w="9525">
            <a:solidFill>
              <a:srgbClr val="CFE0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28216"/>
            <a:ext cx="23774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8368" y="3058668"/>
            <a:ext cx="2157984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5B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رسائل مشوّهة رُفضت، لكل واحدة سبب موثق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43434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5B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إسقاط صامت —‏ الأنبوب يستمر والمرفوض محفوظ بدليله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4864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2F3E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48640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الدليل ‏evidence/ingestion:‏  </a:t>
            </a:r>
            <a:pPr rtl="1" algn="r" indent="0" marL="0">
              <a:buNone/>
            </a:pPr>
            <a:r>
              <a:rPr lang="en-US" sz="16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الاستهلاك الكامل ومحتوى الـ ‏DLQ‏ بثلاثة أسباب رفض موثقة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11076127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9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بحيرة ‏Delta Lakehouse‏ بثلاث طبقات</a:t>
            </a:r>
            <a:endParaRPr lang="ar-SA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429768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297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25‏ نقطة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52160" y="1600200"/>
            <a:ext cx="5760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77800" indent="-1778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Bronze‏ خام للتدقيق · Silver‏ نظيفة · Gold‏ تجميع</a:t>
            </a:r>
            <a:endParaRPr lang="en-US" sz="1700" dirty="0"/>
          </a:p>
          <a:p>
            <a:pPr rtl="1" algn="r" marL="177800" indent="-1778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MERGE‏ حقيقي على مفتاح العمل ‏InvoiceNo + StockCode</a:t>
            </a:r>
            <a:endParaRPr lang="en-US" sz="1700" dirty="0"/>
          </a:p>
          <a:p>
            <a:pPr rtl="1" algn="r" marL="177800" indent="-1778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إرسال نفس مفاتيح العمل آمنة — ‏MERGE‏ يحدّثها ولا يكرّرها</a:t>
            </a:r>
            <a:endParaRPr lang="en-US" sz="1700" dirty="0"/>
          </a:p>
          <a:p>
            <a:pPr rtl="1" algn="r" marL="177800" indent="-1778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فرض المخطط ‏schema enforcement‏ يرفض عموداً دخيلاً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017520" y="1600200"/>
            <a:ext cx="2377440" cy="2514600"/>
          </a:xfrm>
          <a:prstGeom prst="roundRect">
            <a:avLst>
              <a:gd name="adj" fmla="val 3462"/>
            </a:avLst>
          </a:prstGeom>
          <a:solidFill>
            <a:srgbClr val="F0F6F5"/>
          </a:solidFill>
          <a:ln w="9525">
            <a:solidFill>
              <a:srgbClr val="CFE0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728216"/>
            <a:ext cx="23774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1,908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127248" y="3058668"/>
            <a:ext cx="2157984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5B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صفاً حُدِّث ‏update‏ في الدفعة الثانية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600200"/>
            <a:ext cx="2377440" cy="2514600"/>
          </a:xfrm>
          <a:prstGeom prst="roundRect">
            <a:avLst>
              <a:gd name="adj" fmla="val 3462"/>
            </a:avLst>
          </a:prstGeom>
          <a:solidFill>
            <a:srgbClr val="F0F6F5"/>
          </a:solidFill>
          <a:ln w="9525">
            <a:solidFill>
              <a:srgbClr val="CFE0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28216"/>
            <a:ext cx="23774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1,947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8368" y="3058668"/>
            <a:ext cx="2157984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5B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صفاً أُدرج ‏insert‏ في نفس العملية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43434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5B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كلاهما في عملية ‏MERGE‏ ذرّية ‏atomic‏ واحدة، وسجل المعاملات شاهد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4864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2F3E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48640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الدليل ‏evidence/delta:‏  </a:t>
            </a:r>
            <a:pPr rtl="1" algn="r" indent="0" marL="0">
              <a:buNone/>
            </a:pPr>
            <a:r>
              <a:rPr lang="en-US" sz="16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مقاييس ‏MERGE‏ من تاريخ الجدول، ورسالة رفض الكتابة بعمود غير معلَن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76127" y="566928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11076127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9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أنابيب ‏RAG‏ ببحث هجين واستشهادات</a:t>
            </a:r>
            <a:endParaRPr lang="ar-SA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12648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1264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25‏ نقطة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4584" y="1572768"/>
            <a:ext cx="2084832" cy="914400"/>
          </a:xfrm>
          <a:prstGeom prst="roundRect">
            <a:avLst>
              <a:gd name="adj" fmla="val 7000"/>
            </a:avLst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600304" y="1572768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تقطيع ‏chunking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رؤوس سياقية وتداخل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84552" y="1901952"/>
            <a:ext cx="365760" cy="256032"/>
          </a:xfrm>
          <a:prstGeom prst="rightArrow">
            <a:avLst/>
          </a:prstGeom>
          <a:solidFill>
            <a:srgbClr val="5B7176"/>
          </a:solidFill>
          <a:ln/>
        </p:spPr>
      </p:sp>
      <p:sp>
        <p:nvSpPr>
          <p:cNvPr id="10" name="Shape 8"/>
          <p:cNvSpPr/>
          <p:nvPr/>
        </p:nvSpPr>
        <p:spPr>
          <a:xfrm>
            <a:off x="2804008" y="1572768"/>
            <a:ext cx="2084832" cy="914400"/>
          </a:xfrm>
          <a:prstGeom prst="roundRect">
            <a:avLst>
              <a:gd name="adj" fmla="val 7000"/>
            </a:avLst>
          </a:prstGeom>
          <a:solidFill>
            <a:srgbClr val="0B3B4C"/>
          </a:solidFill>
          <a:ln/>
        </p:spPr>
      </p:sp>
      <p:sp>
        <p:nvSpPr>
          <p:cNvPr id="11" name="Text 9"/>
          <p:cNvSpPr/>
          <p:nvPr/>
        </p:nvSpPr>
        <p:spPr>
          <a:xfrm>
            <a:off x="2849728" y="1572768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+ BM25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دلالي وكلمات مفتاحية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33976" y="1901952"/>
            <a:ext cx="365760" cy="256032"/>
          </a:xfrm>
          <a:prstGeom prst="rightArrow">
            <a:avLst/>
          </a:prstGeom>
          <a:solidFill>
            <a:srgbClr val="5B7176"/>
          </a:solidFill>
          <a:ln/>
        </p:spPr>
      </p:sp>
      <p:sp>
        <p:nvSpPr>
          <p:cNvPr id="13" name="Shape 11"/>
          <p:cNvSpPr/>
          <p:nvPr/>
        </p:nvSpPr>
        <p:spPr>
          <a:xfrm>
            <a:off x="5053432" y="1572768"/>
            <a:ext cx="2084832" cy="914400"/>
          </a:xfrm>
          <a:prstGeom prst="roundRect">
            <a:avLst>
              <a:gd name="adj" fmla="val 7000"/>
            </a:avLst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5099152" y="1572768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دمج ‏RRF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بالرتب لا بالدرجات، ‏k=60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83400" y="1901952"/>
            <a:ext cx="365760" cy="256032"/>
          </a:xfrm>
          <a:prstGeom prst="rightArrow">
            <a:avLst/>
          </a:prstGeom>
          <a:solidFill>
            <a:srgbClr val="5B7176"/>
          </a:solidFill>
          <a:ln/>
        </p:spPr>
      </p:sp>
      <p:sp>
        <p:nvSpPr>
          <p:cNvPr id="16" name="Shape 14"/>
          <p:cNvSpPr/>
          <p:nvPr/>
        </p:nvSpPr>
        <p:spPr>
          <a:xfrm>
            <a:off x="7302856" y="1572768"/>
            <a:ext cx="2084832" cy="914400"/>
          </a:xfrm>
          <a:prstGeom prst="roundRect">
            <a:avLst>
              <a:gd name="adj" fmla="val 7000"/>
            </a:avLst>
          </a:prstGeom>
          <a:solidFill>
            <a:srgbClr val="0B3B4C"/>
          </a:solidFill>
          <a:ln/>
        </p:spPr>
      </p:sp>
      <p:sp>
        <p:nvSpPr>
          <p:cNvPr id="17" name="Text 15"/>
          <p:cNvSpPr/>
          <p:nvPr/>
        </p:nvSpPr>
        <p:spPr>
          <a:xfrm>
            <a:off x="7348576" y="1572768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cross-encoder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ترتيب ‏rerank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32824" y="1901952"/>
            <a:ext cx="365760" cy="256032"/>
          </a:xfrm>
          <a:prstGeom prst="rightArrow">
            <a:avLst/>
          </a:prstGeom>
          <a:solidFill>
            <a:srgbClr val="5B7176"/>
          </a:solidFill>
          <a:ln/>
        </p:spPr>
      </p:sp>
      <p:sp>
        <p:nvSpPr>
          <p:cNvPr id="19" name="Shape 17"/>
          <p:cNvSpPr/>
          <p:nvPr/>
        </p:nvSpPr>
        <p:spPr>
          <a:xfrm>
            <a:off x="9552280" y="1572768"/>
            <a:ext cx="2084832" cy="914400"/>
          </a:xfrm>
          <a:prstGeom prst="roundRect">
            <a:avLst>
              <a:gd name="adj" fmla="val 7000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9598000" y="1572768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إجابة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000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استشهادات مرقّمة ‏Source 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2697480"/>
            <a:ext cx="10362895" cy="2606040"/>
          </a:xfrm>
          <a:prstGeom prst="roundRect">
            <a:avLst>
              <a:gd name="adj" fmla="val 3509"/>
            </a:avLst>
          </a:prstGeom>
          <a:solidFill>
            <a:srgbClr val="0B3B4C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2852928"/>
            <a:ext cx="97228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Q: Which product has the highest revenue in the catalog?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[REGENCY CAKESTAND 3 TIER] It ranks 1 out of 1791 products by total revenue.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It is the top product by revenue: the number one best-selling,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highest-revenue product in the entire catalog. [Source 1]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BC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stage-by-stage top-3 ids (each stage re-ranks the candidates):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8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BM25                  Vector                RRF                   Rerank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22423_chunk_005       22423_chunk_006       22423_chunk_006       22423_chunk_005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22423_chunk_006       22423_chunk_005       22423_chunk_005       22423_chunk_006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21915_chunk_006       84952C_chunk_005      22752_chunk_005       22752_chunk_005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2F3E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48640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الدليل ‏evidence/rag:‏  </a:t>
            </a:r>
            <a:pPr rtl="1" algn="r" indent="0" marL="0">
              <a:buNone/>
            </a:pPr>
            <a:r>
              <a:rPr lang="en-US" sz="16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إجابات باستشهادات، ومقارنة ترتيب تثبت أن كل مرحلة تغيّر النتيجة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76127" y="384048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11076127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9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تنسيق ‏Airflow DAG‏ بعشر مهام</a:t>
            </a:r>
            <a:endParaRPr lang="ar-SA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429768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2976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15‏ نقطة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52160" y="141732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77800" indent="-1778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مرحلة مهمة ‏BashOperator‏ مستقلة</a:t>
            </a:r>
            <a:endParaRPr lang="en-US" sz="1700" dirty="0"/>
          </a:p>
          <a:p>
            <a:pPr rtl="1" algn="r" marL="177800" indent="-1778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الاعتماديات صريحة، بوابة ‏gate‏ قبل أي تحويل</a:t>
            </a:r>
            <a:endParaRPr lang="en-US" sz="1700" dirty="0"/>
          </a:p>
          <a:p>
            <a:pPr rtl="1" algn="r" marL="177800" indent="-1778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الافتراضية ‏trigger_rule = all_success‏ تكفي</a:t>
            </a:r>
            <a:endParaRPr lang="en-US" sz="1700" dirty="0"/>
          </a:p>
          <a:p>
            <a:pPr rtl="1" algn="r" marL="177800" indent="-1778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تفشل بـ ‏exit code 1‏ فيتوقف ما بعدها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F0F6F5"/>
          </a:solidFill>
          <a:ln w="9525">
            <a:solidFill>
              <a:srgbClr val="CFE0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4173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فشل ‏GX checkpoint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6080" y="1984248"/>
            <a:ext cx="182880" cy="182880"/>
          </a:xfrm>
          <a:prstGeom prst="downArrow">
            <a:avLst/>
          </a:prstGeom>
          <a:solidFill>
            <a:srgbClr val="5B7176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2167128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F0F6F5"/>
          </a:solidFill>
          <a:ln w="9525">
            <a:solidFill>
              <a:srgbClr val="CFE0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16712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السكربت ينفّذ ‏sys.exit(1)‎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926080" y="2734056"/>
            <a:ext cx="182880" cy="182880"/>
          </a:xfrm>
          <a:prstGeom prst="downArrow">
            <a:avLst/>
          </a:prstGeom>
          <a:solidFill>
            <a:srgbClr val="5B7176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916936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F0F6F5"/>
          </a:solidFill>
          <a:ln w="9525">
            <a:solidFill>
              <a:srgbClr val="CFE0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91693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Airflow‏ يعلّم المهمة ‏failed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926080" y="3483864"/>
            <a:ext cx="182880" cy="182880"/>
          </a:xfrm>
          <a:prstGeom prst="downArrow">
            <a:avLst/>
          </a:prstGeom>
          <a:solidFill>
            <a:srgbClr val="5B7176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666744"/>
            <a:ext cx="4206240" cy="566928"/>
          </a:xfrm>
          <a:prstGeom prst="roundRect">
            <a:avLst>
              <a:gd name="adj" fmla="val 14516"/>
            </a:avLst>
          </a:prstGeom>
          <a:solidFill>
            <a:srgbClr val="0B3B4C"/>
          </a:solidFill>
          <a:ln w="9525">
            <a:solidFill>
              <a:srgbClr val="CFE0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66674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ما بعدها ‏upstream_failed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663440"/>
            <a:ext cx="11183112" cy="1353312"/>
          </a:xfrm>
          <a:prstGeom prst="roundRect">
            <a:avLst>
              <a:gd name="adj" fmla="val 5405"/>
            </a:avLst>
          </a:prstGeom>
          <a:solidFill>
            <a:srgbClr val="FAFCFC"/>
          </a:solidFill>
          <a:ln w="12700">
            <a:solidFill>
              <a:srgbClr val="CFE0DE"/>
            </a:solidFill>
            <a:prstDash val="solid"/>
          </a:ln>
        </p:spPr>
      </p:sp>
      <p:pic>
        <p:nvPicPr>
          <p:cNvPr id="20" name="Image 0" descr="C:/Users/abdul/sdaia-capstone/evidence/airflow/05_success_run_all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800600"/>
            <a:ext cx="11091672" cy="87416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68680" y="6053328"/>
            <a:ext cx="10424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B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تشغيلة نظيفة، ‏10‏ من ‏10‏ مهام خضراء في ‏Graph view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76127" y="566928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11076127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9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بوابتا جودة ‏Great Expectations‏ + نسب ‏OpenLineage</a:t>
            </a:r>
            <a:endParaRPr lang="ar-SA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612648"/>
            <a:ext cx="1600200" cy="47548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1264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15‏ نقطة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93815" y="1600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0F6F5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2415" y="1737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‏Bronze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68135" y="22860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52400" indent="-152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فحوص على مستوى العقد ‏contract</a:t>
            </a:r>
            <a:endParaRPr lang="en-US" sz="1500" dirty="0"/>
          </a:p>
          <a:p>
            <a:pPr rtl="1" algn="r" marL="152400" indent="-152400">
              <a:buSzPct val="100000"/>
              <a:buChar char="▪"/>
            </a:pPr>
            <a:r>
              <a:rPr lang="en-US" sz="15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not-null‏ ونمط رقم الفاتورة ‏regex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0F6F5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737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بوابة ‏Silver، البوابة الموقِفة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52400" indent="-1524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التفرد المركّب ‏compound uniqueness‏ للمفتاح</a:t>
            </a:r>
            <a:endParaRPr lang="en-US" sz="1500" dirty="0"/>
          </a:p>
          <a:p>
            <a:pPr rtl="1" algn="r" marL="152400" indent="-152400">
              <a:buSzPct val="100000"/>
              <a:buChar char="▪"/>
            </a:pPr>
            <a:r>
              <a:rPr lang="en-US" sz="15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توقّع قادر على الفشل فعلاً، ليس ديكوراً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94415" cy="1143000"/>
          </a:xfrm>
          <a:prstGeom prst="roundRect">
            <a:avLst>
              <a:gd name="adj" fmla="val 8000"/>
            </a:avLst>
          </a:prstGeom>
          <a:solidFill>
            <a:srgbClr val="0B3B4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23360"/>
            <a:ext cx="10545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OpenLineage:‏  </a:t>
            </a:r>
            <a:pPr rtl="1"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أحداث ‏START / COMPLETE / FAIL‏ من كل مرحلة، بمعرّف تشغيل ‏runId‏ واحد للأنبوب كله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4864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2F3E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48640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الدليل ‏evidence/ge_lineage:‏  </a:t>
            </a:r>
            <a:pPr rtl="1" algn="r" indent="0" marL="0">
              <a:buNone/>
            </a:pPr>
            <a:r>
              <a:rPr lang="en-US" sz="1600" dirty="0">
                <a:solidFill>
                  <a:srgbClr val="163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نتائج ‏checkpoint‏ ناجحة وفاشلة، وأحداث ‏lineage‏ متسلسلة بنفس ‏runId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أثبتنا مسارات الفشل، لا ندّعيها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044788" y="13716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0505F"/>
          </a:solidFill>
          <a:ln w="9525">
            <a:solidFill>
              <a:srgbClr val="1E6B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10064" y="1115568"/>
            <a:ext cx="475488" cy="475488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B3B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10064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36228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حقن متعمد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72804" y="2212848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BC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تكرارات دُسَّت في ‏Silver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0148" y="13716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0505F"/>
          </a:solidFill>
          <a:ln w="9525">
            <a:solidFill>
              <a:srgbClr val="1E6B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75424" y="1115568"/>
            <a:ext cx="475488" cy="47548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0B3B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75424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1588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البوابة حمراء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38164" y="2212848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BC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ge_gate_silver‏ يفشل الـ ‏checkpoint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75508" y="13716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0505F"/>
          </a:solidFill>
          <a:ln w="9525">
            <a:solidFill>
              <a:srgbClr val="1E6B7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40784" y="1115568"/>
            <a:ext cx="475488" cy="475488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B3B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0784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66948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التوقف التلقائي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03524" y="2212848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BC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3‏ مهام ‏upstream_failed‏ لم تعمل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0868" y="137160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10505F"/>
          </a:solidFill>
          <a:ln w="9525">
            <a:solidFill>
              <a:srgbClr val="1E6B7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6144" y="1115568"/>
            <a:ext cx="475488" cy="475488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B3B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6144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2308" y="1691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الاستعادة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68884" y="2212848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BC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reset_demo_state‏ يعيد النظافة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383280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pic>
        <p:nvPicPr>
          <p:cNvPr id="24" name="Image 0" descr="C:/Users/abdul/sdaia-capstone/evidence/airflow/01_failed_run_graph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520440"/>
            <a:ext cx="11091672" cy="8869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96112" y="4480560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أحمر — ‏ge_gate_silver‏ فشلت   ·   </a:t>
            </a:r>
            <a:pPr rtl="1" algn="ctr" indent="0" marL="0">
              <a:buNone/>
            </a:pPr>
            <a:r>
              <a:rPr lang="en-US" sz="1250" b="1" dirty="0">
                <a:solidFill>
                  <a:srgbClr val="D689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أصفر —‏ ثلاث مهام ‏upstream_failed‏ لم تُشغَّل أصلاً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1554480" y="5212080"/>
            <a:ext cx="9082735" cy="960120"/>
          </a:xfrm>
          <a:prstGeom prst="roundRect">
            <a:avLst>
              <a:gd name="adj" fmla="val 9524"/>
            </a:avLst>
          </a:prstGeom>
          <a:solidFill>
            <a:srgbClr val="10505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783080" y="5212080"/>
            <a:ext cx="8625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وفشل حقيقي غير متعمد —‏ </a:t>
            </a:r>
            <a:pPr rtl="1"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خطأ ‏UUID‏ في ‏OpenLineage‏ مبكراً، شُخِّص وأُصلح بـ ‏commit‏ موثق ‏62c1417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900" b="1" dirty="0">
                <a:solidFill>
                  <a:srgbClr val="0B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الانضباط الهندسي: كيف بُني المشروع</a:t>
            </a:r>
            <a:endParaRPr lang="ar-SA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017520" cy="4480560"/>
          </a:xfrm>
          <a:prstGeom prst="roundRect">
            <a:avLst>
              <a:gd name="adj" fmla="val 2424"/>
            </a:avLst>
          </a:prstGeom>
          <a:solidFill>
            <a:srgbClr val="FAFCFC"/>
          </a:solidFill>
          <a:ln w="12700">
            <a:solidFill>
              <a:srgbClr val="CFE0DE"/>
            </a:solidFill>
            <a:prstDash val="solid"/>
          </a:ln>
        </p:spPr>
      </p:sp>
      <p:pic>
        <p:nvPicPr>
          <p:cNvPr id="4" name="Image 0" descr="C:/Users/abdul/sdaia-capstone/evidence/airflow/04_grid_all_runs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600200"/>
            <a:ext cx="2487168" cy="31181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48006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5B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التشغيلات كاملاً في ‏Grid view، فشل مبكر ثم نجاحان ثم فشل متعمد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939735" y="1554480"/>
            <a:ext cx="3703320" cy="2011680"/>
          </a:xfrm>
          <a:prstGeom prst="roundRect">
            <a:avLst>
              <a:gd name="adj" fmla="val 4091"/>
            </a:avLst>
          </a:prstGeom>
          <a:solidFill>
            <a:srgbClr val="F0F6F5"/>
          </a:solidFill>
          <a:ln w="9525">
            <a:solidFill>
              <a:srgbClr val="CFE0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39735" y="1682496"/>
            <a:ext cx="370332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049463" y="2721254"/>
            <a:ext cx="348386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5B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commit‏ تدريجياً، تاريخ بناء حقيقي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007815" y="1554480"/>
            <a:ext cx="3703320" cy="2011680"/>
          </a:xfrm>
          <a:prstGeom prst="roundRect">
            <a:avLst>
              <a:gd name="adj" fmla="val 4091"/>
            </a:avLst>
          </a:prstGeom>
          <a:solidFill>
            <a:srgbClr val="F0F6F5"/>
          </a:solidFill>
          <a:ln w="9525">
            <a:solidFill>
              <a:srgbClr val="CFE0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07815" y="1682496"/>
            <a:ext cx="370332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117543" y="2721254"/>
            <a:ext cx="348386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5B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 وحدة ‏TDD، أمسك كسراً فعلياً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939735" y="3886200"/>
            <a:ext cx="3703320" cy="2011680"/>
          </a:xfrm>
          <a:prstGeom prst="roundRect">
            <a:avLst>
              <a:gd name="adj" fmla="val 4091"/>
            </a:avLst>
          </a:prstGeom>
          <a:solidFill>
            <a:srgbClr val="F0F6F5"/>
          </a:solidFill>
          <a:ln w="9525">
            <a:solidFill>
              <a:srgbClr val="CFE0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39735" y="4014216"/>
            <a:ext cx="370332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8049463" y="5052974"/>
            <a:ext cx="348386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5B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وثيقتا ‏PRD + ARCHITECTURE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007815" y="3886200"/>
            <a:ext cx="3703320" cy="2011680"/>
          </a:xfrm>
          <a:prstGeom prst="roundRect">
            <a:avLst>
              <a:gd name="adj" fmla="val 4091"/>
            </a:avLst>
          </a:prstGeom>
          <a:solidFill>
            <a:srgbClr val="F0F6F5"/>
          </a:solidFill>
          <a:ln w="9525">
            <a:solidFill>
              <a:srgbClr val="CFE0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07815" y="4014216"/>
            <a:ext cx="370332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4117543" y="5052974"/>
            <a:ext cx="348386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5B7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مكونات حقيقية بلا ‏mocks‏ —‏ تدفق الأحداث يُعاد بثه من بيانات حقيقية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خمسة متطلبات، خمسة أدلة، وأنبوب ينجح ويفشل بصدق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9BC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الأدلة، الكود، والتوثيق في المستودع: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804008" y="3703320"/>
            <a:ext cx="6583680" cy="777240"/>
          </a:xfrm>
          <a:prstGeom prst="roundRect">
            <a:avLst>
              <a:gd name="adj" fmla="val 49412"/>
            </a:avLst>
          </a:prstGeom>
          <a:solidFill>
            <a:srgbClr val="10505F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04008" y="37033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github.com/AK7Amin/SDAIA-DATA-Engineering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489204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نرحّب بأسئلتكم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C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SDAIA Academy · Modern Data Engineering for AI Systems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2026-08-06T00:40:21Z</dcterms:created>
  <dcterms:modified xsi:type="dcterms:W3CDTF">2026-08-06T00:40:21Z</dcterms:modified>
</cp:coreProperties>
</file>